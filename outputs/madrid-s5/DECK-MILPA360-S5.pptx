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b1507c6409141f8" /><Relationship Type="http://schemas.openxmlformats.org/officeDocument/2006/relationships/extended-properties" Target="/docProps/app.xml" Id="R7d7cb35d70ea49ac" /><Relationship Type="http://schemas.openxmlformats.org/officeDocument/2006/relationships/officeDocument" Target="/ppt/presentation.xml" Id="R52d9a395f8894e4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795b862ee0413d"/>
  </p:sldMasterIdLst>
  <p:notesMasterIdLst>
    <p:notesMasterId xmlns:r="http://schemas.openxmlformats.org/officeDocument/2006/relationships" r:id="R542d80748b00485d"/>
  </p:notesMasterIdLst>
  <p:sldIdLst>
    <p:sldId xmlns:r="http://schemas.openxmlformats.org/officeDocument/2006/relationships" id="256" r:id="Rb75cfb6b5edb4271"/>
    <p:sldId xmlns:r="http://schemas.openxmlformats.org/officeDocument/2006/relationships" id="257" r:id="Rb87a55915a4b4762"/>
    <p:sldId xmlns:r="http://schemas.openxmlformats.org/officeDocument/2006/relationships" id="258" r:id="R2c0af49139ec45d0"/>
    <p:sldId xmlns:r="http://schemas.openxmlformats.org/officeDocument/2006/relationships" id="259" r:id="Rcaa9f9fdbdd34c37"/>
    <p:sldId xmlns:r="http://schemas.openxmlformats.org/officeDocument/2006/relationships" id="260" r:id="R640906b99a2c4cbd"/>
    <p:sldId xmlns:r="http://schemas.openxmlformats.org/officeDocument/2006/relationships" id="261" r:id="Rde5da611f37348f5"/>
    <p:sldId xmlns:r="http://schemas.openxmlformats.org/officeDocument/2006/relationships" id="262" r:id="Rbc8ae9934ab0421e"/>
    <p:sldId xmlns:r="http://schemas.openxmlformats.org/officeDocument/2006/relationships" id="263" r:id="R45ed26d26e0642c9"/>
    <p:sldId xmlns:r="http://schemas.openxmlformats.org/officeDocument/2006/relationships" id="264" r:id="R8f056705edd845e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161633307e466d" /><Relationship Type="http://schemas.openxmlformats.org/officeDocument/2006/relationships/slideMaster" Target="/ppt/slideMasters/slideMaster1.xml" Id="R8a795b862ee0413d" /><Relationship Type="http://schemas.openxmlformats.org/officeDocument/2006/relationships/notesMaster" Target="/ppt/notesMasters/notesMaster1.xml" Id="R542d80748b00485d" /><Relationship Type="http://schemas.openxmlformats.org/officeDocument/2006/relationships/presProps" Target="/ppt/presProps.xml" Id="Rbfc66ea50ea34bc0" /><Relationship Type="http://schemas.openxmlformats.org/officeDocument/2006/relationships/tableStyles" Target="/ppt/tableStyles.xml" Id="R8b6ce13b0124433c" /><Relationship Type="http://schemas.openxmlformats.org/officeDocument/2006/relationships/slide" Target="/ppt/slides/slide1.xml" Id="Rb75cfb6b5edb4271" /><Relationship Type="http://schemas.openxmlformats.org/officeDocument/2006/relationships/slide" Target="/ppt/slides/slide2.xml" Id="Rb87a55915a4b4762" /><Relationship Type="http://schemas.openxmlformats.org/officeDocument/2006/relationships/slide" Target="/ppt/slides/slide3.xml" Id="R2c0af49139ec45d0" /><Relationship Type="http://schemas.openxmlformats.org/officeDocument/2006/relationships/slide" Target="/ppt/slides/slide4.xml" Id="Rcaa9f9fdbdd34c37" /><Relationship Type="http://schemas.openxmlformats.org/officeDocument/2006/relationships/slide" Target="/ppt/slides/slide5.xml" Id="R640906b99a2c4cbd" /><Relationship Type="http://schemas.openxmlformats.org/officeDocument/2006/relationships/slide" Target="/ppt/slides/slide6.xml" Id="Rde5da611f37348f5" /><Relationship Type="http://schemas.openxmlformats.org/officeDocument/2006/relationships/slide" Target="/ppt/slides/slide7.xml" Id="Rbc8ae9934ab0421e" /><Relationship Type="http://schemas.openxmlformats.org/officeDocument/2006/relationships/slide" Target="/ppt/slides/slide8.xml" Id="R45ed26d26e0642c9" /><Relationship Type="http://schemas.openxmlformats.org/officeDocument/2006/relationships/slide" Target="/ppt/slides/slide9.xml" Id="R8f056705edd845e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a7785aa149047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db454d219974858" /><Relationship Type="http://schemas.openxmlformats.org/officeDocument/2006/relationships/notesMaster" Target="/ppt/notesMasters/notesMaster1.xml" Id="Ree3328553aed47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b5fe539f4d4e50" /><Relationship Type="http://schemas.openxmlformats.org/officeDocument/2006/relationships/notesMaster" Target="/ppt/notesMasters/notesMaster1.xml" Id="Rc3554bb5c713437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9d255cc306e4391" /><Relationship Type="http://schemas.openxmlformats.org/officeDocument/2006/relationships/notesMaster" Target="/ppt/notesMasters/notesMaster1.xml" Id="R80f8ea7fa2e74d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b026396b9549a6" /><Relationship Type="http://schemas.openxmlformats.org/officeDocument/2006/relationships/notesMaster" Target="/ppt/notesMasters/notesMaster1.xml" Id="R18dd383bf12544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5aae8d38684e99" /><Relationship Type="http://schemas.openxmlformats.org/officeDocument/2006/relationships/notesMaster" Target="/ppt/notesMasters/notesMaster1.xml" Id="Rea92717db77a442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095169f71f4af1" /><Relationship Type="http://schemas.openxmlformats.org/officeDocument/2006/relationships/notesMaster" Target="/ppt/notesMasters/notesMaster1.xml" Id="R9fc6364b2f0e497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e1f0a3d90944b3" /><Relationship Type="http://schemas.openxmlformats.org/officeDocument/2006/relationships/notesMaster" Target="/ppt/notesMasters/notesMaster1.xml" Id="R11281772ad0a49c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b3912f98b04866" /><Relationship Type="http://schemas.openxmlformats.org/officeDocument/2006/relationships/notesMaster" Target="/ppt/notesMasters/notesMaster1.xml" Id="Rcf525c4078f241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4b3b55e7fcb468a" /><Relationship Type="http://schemas.openxmlformats.org/officeDocument/2006/relationships/notesMaster" Target="/ppt/notesMasters/notesMaster1.xml" Id="Rb487a11d119f41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0:00–0:30 · Lámina 1 · La propuesta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Somos BioMars Chiapas. MILPA-360 es una propuesta para conectar recuperación de</a:t>
            </a:r>
          </a:p>
          <a:p xmlns:a="http://schemas.openxmlformats.org/drawingml/2006/main">
            <a:r>
              <a:t>sustrato, aprovechamiento de residuos animales y cultivo. Presentamos un concepto</a:t>
            </a:r>
          </a:p>
          <a:p xmlns:a="http://schemas.openxmlformats.org/drawingml/2006/main">
            <a:r>
              <a:t>de ingeniería y su demostrador digital. Nuestro objetivo hoy es explicar cómo</a:t>
            </a:r>
          </a:p>
          <a:p xmlns:a="http://schemas.openxmlformats.org/drawingml/2006/main">
            <a:r>
              <a:t>funciona, cuánto puede aportar y qué falta demostrar antes de construir un piloto.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P5-DEFENSA.md §1; captura hero, escena nominal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0:30–1:00 · Lámina 2 · Las tres funciones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Un lote de sustrato recibe un tratamiento, pasa por estaciones y llega a cultivo</a:t>
            </a:r>
          </a:p>
          <a:p xmlns:a="http://schemas.openxmlformats.org/drawingml/2006/main">
            <a:r>
              <a:t>sólo después de control de calidad. Los residuos se asignan a rutas concretas:</a:t>
            </a:r>
          </a:p>
          <a:p xmlns:a="http://schemas.openxmlformats.org/drawingml/2006/main">
            <a:r>
              <a:t>larvario, digestión y retención. La salmuera permanece en un reactor separado.</a:t>
            </a:r>
          </a:p>
          <a:p xmlns:a="http://schemas.openxmlformats.org/drawingml/2006/main">
            <a:r>
              <a:t>Este esquema conserva las tres partes del reto; todavía no demuestra recuperación</a:t>
            </a:r>
          </a:p>
          <a:p xmlns:a="http://schemas.openxmlformats.org/drawingml/2006/main">
            <a:r>
              <a:t>del cien por ciento ni seguridad sanitaria. Son requisitos que mantenemos abiertos.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Matriz RU, P1 D3–D5, P5 §2/4; P05-procesos S5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1:00–1:40 · Lámina 3 · Mecanismo y escala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Ahora usamos veinte cartuchos idénticos en un solo anillo. El mismo recipiente</a:t>
            </a:r>
          </a:p>
          <a:p xmlns:a="http://schemas.openxmlformats.org/drawingml/2006/main">
            <a:r>
              <a:t>cambia de etapa: evitamos transferencias imaginarias entre bandejas distintas.</a:t>
            </a:r>
          </a:p>
          <a:p xmlns:a="http://schemas.openxmlformats.org/drawingml/2006/main">
            <a:r>
              <a:t>La configuración tiene 3.086 metros cuadrados útiles de cultivo y un diámetro</a:t>
            </a:r>
          </a:p>
          <a:p xmlns:a="http://schemas.openxmlformats.org/drawingml/2006/main">
            <a:r>
              <a:t>nominal de 4.56 metros. La masa móvil estimada es casi dos toneladas. La figura</a:t>
            </a:r>
          </a:p>
          <a:p xmlns:a="http://schemas.openxmlformats.org/drawingml/2006/main">
            <a:r>
              <a:t>humana da escala, pero el anillo aún corta la entrada. Estudiamos un sector de</a:t>
            </a:r>
          </a:p>
          <a:p xmlns:a="http://schemas.openxmlformats.org/drawingml/2006/main">
            <a:r>
              <a:t>servicio desmontable; no presentamos el acceso ni la resistencia como resueltos.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parameters.json; milpa360_p2.py; milpa360_p4.py; P5 §3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1:40–2:15 · Lámina 4 · Control por lote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lote conserva historial. Sin análisis aceptable permanece retenido. Si se</a:t>
            </a:r>
          </a:p>
          <a:p xmlns:a="http://schemas.openxmlformats.org/drawingml/2006/main">
            <a:r>
              <a:t>rechaza, el modelo permite aislarlo con recursos de reemplazo limitados. Una bomba</a:t>
            </a:r>
          </a:p>
          <a:p xmlns:a="http://schemas.openxmlformats.org/drawingml/2006/main">
            <a:r>
              <a:t>averiada reduce agua disponible y una tormenta reduce energía para iluminación.</a:t>
            </a:r>
          </a:p>
          <a:p xmlns:a="http://schemas.openxmlformats.org/drawingml/2006/main">
            <a:r>
              <a:t>El daño no desaparece al pulsar reparar. Estas reglas permiten discutir operación</a:t>
            </a:r>
          </a:p>
          <a:p xmlns:a="http://schemas.openxmlformats.org/drawingml/2006/main">
            <a:r>
              <a:t>y fallos, pero todavía no están calibradas con cultivos reales.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milpa360-modelo.js; verificar_p3.cjs; P5 §5; captura tormenta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2:15–2:55 · Lámina 5 · Aporte y dependencias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 los supuestos terrestres actuales, huevo y vegetales suman unas 447 kilocalorías</a:t>
            </a:r>
          </a:p>
          <a:p xmlns:a="http://schemas.openxmlformats.org/drawingml/2006/main">
            <a:r>
              <a:t>al día: 2.46 por ciento de lo necesario para seis personas. Las aves consumen</a:t>
            </a:r>
          </a:p>
          <a:p xmlns:a="http://schemas.openxmlformats.org/drawingml/2006/main">
            <a:r>
              <a:t>ración importada. La iluminación requiere unas 10.48 kilovatios hora eléctricos</a:t>
            </a:r>
          </a:p>
          <a:p xmlns:a="http://schemas.openxmlformats.org/drawingml/2006/main">
            <a:r>
              <a:t>al día; al añadir auxiliares y térmica supuestos, el escenario suma unos 25.26,</a:t>
            </a:r>
          </a:p>
          <a:p xmlns:a="http://schemas.openxmlformats.org/drawingml/2006/main">
            <a:r>
              <a:t>todavía con cargas excluidas. El biogás aporta 0.199 kilovatios hora químicos.</a:t>
            </a:r>
          </a:p>
          <a:p xmlns:a="http://schemas.openxmlformats.org/drawingml/2006/main">
            <a:r>
              <a:t>Reservamos la dieta completa sin descontar cosechas no validadas. El valor a investigar está en</a:t>
            </a:r>
          </a:p>
          <a:p xmlns:a="http://schemas.openxmlformats.org/drawingml/2006/main">
            <a:r>
              <a:t>alimento fresco y recuperación controlada, con sus costes medidos.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milpa360_p1.py; MILPA_DATOS.balance; P5 §4, fuentes BVAD/USDA/PMC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2:55–3:25 · Lámina 6 · Qué se verificó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Ya podemos regenerar parámetros, cálculos y planos, ejecutar la demo sin Internet</a:t>
            </a:r>
          </a:p>
          <a:p xmlns:a="http://schemas.openxmlformats.org/drawingml/2006/main">
            <a:r>
              <a:t>y repetir escenarios. No tenemos todavía ensayos físicos registrados. Preparamos</a:t>
            </a:r>
          </a:p>
          <a:p xmlns:a="http://schemas.openxmlformats.org/drawingml/2006/main">
            <a:r>
              <a:t>pruebas de movimiento con carga, riego y aislamiento. Primero debemos comprobar</a:t>
            </a:r>
          </a:p>
          <a:p xmlns:a="http://schemas.openxmlformats.org/drawingml/2006/main">
            <a:r>
              <a:t>el mecanismo y la medición; los procesos biológicos y sanitarios exigen supervisión</a:t>
            </a:r>
          </a:p>
          <a:p xmlns:a="http://schemas.openxmlformats.org/drawingml/2006/main">
            <a:r>
              <a:t>competente. Una captura del modelo no reemplaza esos resultados.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Pruebas P1/P2/P3/P4; VERIFICACION-BLENDER.json; ensayos CSV sin mediciones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3:25–4:05 · Lámina 7 · Chiapas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Proponemos comenzar en un huerto de Tuxtla con una comparación pequeña de riego</a:t>
            </a:r>
          </a:p>
          <a:p xmlns:a="http://schemas.openxmlformats.org/drawingml/2006/main">
            <a:r>
              <a:t>manual y goteo con aislamiento. Son seis recipientes, en tres pares independientes.</a:t>
            </a:r>
          </a:p>
          <a:p xmlns:a="http://schemas.openxmlformats.org/drawingml/2006/main">
            <a:r>
              <a:t>Mediremos agua nueva por kilo utilizable, trabajo y energía. Sitio, operador y</a:t>
            </a:r>
          </a:p>
          <a:p xmlns:a="http://schemas.openxmlformats.org/drawingml/2006/main">
            <a:r>
              <a:t>línea base están pendientes. Así podremos decidir con datos si una función del</a:t>
            </a:r>
          </a:p>
          <a:p xmlns:a="http://schemas.openxmlformats.org/drawingml/2006/main">
            <a:r>
              <a:t>concepto merece crecer. No prometemos ahorro antes de obtener una cosecha comparable.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P4-PRESUPUESTO-CHIAPAS.md; protocolo exploratorio, sitio y operador pendientes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4:05–4:35 · Lámina 8 · Recursos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Separamos los costes de la maqueta Madrid, el piloto Chiapas y el concepto marciano.</a:t>
            </a:r>
          </a:p>
          <a:p xmlns:a="http://schemas.openxmlformats.org/drawingml/2006/main">
            <a:r>
              <a:t>Tenemos partidas y algunas referencias públicas; faltan cotizaciones y fabricación.</a:t>
            </a:r>
          </a:p>
          <a:p xmlns:a="http://schemas.openxmlformats.org/drawingml/2006/main">
            <a:r>
              <a:t>No usamos un subtotal como precio del proyecto ni un precio comercial como coste</a:t>
            </a:r>
          </a:p>
          <a:p xmlns:a="http://schemas.openxmlformats.org/drawingml/2006/main">
            <a:r>
              <a:t>de equipo espacial. El siguiente gasto debe responder a la incertidumbre que</a:t>
            </a:r>
          </a:p>
          <a:p xmlns:a="http://schemas.openxmlformats.org/drawingml/2006/main">
            <a:r>
              <a:t>queramos reducir, especialmente acceso, accionamiento y medición del agua.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presupuesto S4; XLSX con fórmulas. No precio total ni cotización formal.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4:35–5:00 · Lámina 9 · Siguiente demostración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La siguiente evidencia que necesitamos es una transferencia o acceso practicable,</a:t>
            </a:r>
          </a:p>
          <a:p xmlns:a="http://schemas.openxmlformats.org/drawingml/2006/main">
            <a:r>
              <a:t>un indexado medido y una prueba independiente de riego e aislamiento. MILPA-360</a:t>
            </a:r>
          </a:p>
          <a:p xmlns:a="http://schemas.openxmlformats.org/drawingml/2006/main">
            <a:r>
              <a:t>conserva la idea de conectar procesos mediante el movimiento del sustrato. Ahora</a:t>
            </a:r>
          </a:p>
          <a:p xmlns:a="http://schemas.openxmlformats.org/drawingml/2006/main">
            <a:r>
              <a:t>la acompañamos con límites, trazabilidad y ensayos que permitirán decidir si esa</a:t>
            </a:r>
          </a:p>
          <a:p xmlns:a="http://schemas.openxmlformats.org/drawingml/2006/main">
            <a:r>
              <a:t>complejidad aporta una ventaja real frente a una solución más simple.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Trazabilidad: P4 protocolos E1–E4; P5 §3/6; hipótesis, sin patente ni ensayos concluidos</a:t>
            </a:r>
          </a:p>
          <a:p xmlns:a="http://schemas.openxmlformats.org/drawingml/2006/main">
            <a:r>
              <a:t>Cierre acumulado 21 sep 2026: CALCULOS-CIERRE.md y CIERRE-ACUMULADO.md. Capturas y Blender regenerados en revisión visual V2; cotas S5 conservadas. B15-B19 no aceptados físicamente.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cb600ea539449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35744980ed54efe" /><Relationship Type="http://schemas.openxmlformats.org/officeDocument/2006/relationships/slideLayout" Target="/ppt/slideLayouts/slideLayout1.xml" Id="R211ff7ef136e49d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1ff7ef136e49d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64b8464a164d4a" /><Relationship Type="http://schemas.openxmlformats.org/officeDocument/2006/relationships/image" Target="/ppt/media/image.png" Id="R188109c4e48e420e" /><Relationship Type="http://schemas.openxmlformats.org/officeDocument/2006/relationships/notesSlide" Target="/ppt/notesSlides/notesSlide1.xml" Id="R84dad9a5a84543f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60eadfabfa450d" /><Relationship Type="http://schemas.openxmlformats.org/officeDocument/2006/relationships/image" Target="/ppt/media/image2.png" Id="Rf2e65e841fb844f4" /><Relationship Type="http://schemas.openxmlformats.org/officeDocument/2006/relationships/notesSlide" Target="/ppt/notesSlides/notesSlide2.xml" Id="R6e24d87bf35b4a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8adad50fb4afb" /><Relationship Type="http://schemas.openxmlformats.org/officeDocument/2006/relationships/image" Target="/ppt/media/image3.png" Id="R4204c500a51a48a1" /><Relationship Type="http://schemas.openxmlformats.org/officeDocument/2006/relationships/notesSlide" Target="/ppt/notesSlides/notesSlide3.xml" Id="R97595932249e42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98b05bddc4794" /><Relationship Type="http://schemas.openxmlformats.org/officeDocument/2006/relationships/image" Target="/ppt/media/image4.png" Id="Rb2499918e08141e2" /><Relationship Type="http://schemas.openxmlformats.org/officeDocument/2006/relationships/notesSlide" Target="/ppt/notesSlides/notesSlide4.xml" Id="R8796a90a432447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713a7ebaf4977" /><Relationship Type="http://schemas.openxmlformats.org/officeDocument/2006/relationships/notesSlide" Target="/ppt/notesSlides/notesSlide5.xml" Id="R7553054e50f245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9f30647f64f94" /><Relationship Type="http://schemas.openxmlformats.org/officeDocument/2006/relationships/image" Target="/ppt/media/image5.png" Id="Rd9d40856f73a44ab" /><Relationship Type="http://schemas.openxmlformats.org/officeDocument/2006/relationships/notesSlide" Target="/ppt/notesSlides/notesSlide6.xml" Id="R61a8fed058af48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1425eb8fe4f8c" /><Relationship Type="http://schemas.openxmlformats.org/officeDocument/2006/relationships/notesSlide" Target="/ppt/notesSlides/notesSlide7.xml" Id="Rab14bd20e46944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5c2a65da64473a" /><Relationship Type="http://schemas.openxmlformats.org/officeDocument/2006/relationships/notesSlide" Target="/ppt/notesSlides/notesSlide8.xml" Id="Rea2d60fae3834c5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393a761b354ff8" /><Relationship Type="http://schemas.openxmlformats.org/officeDocument/2006/relationships/notesSlide" Target="/ppt/notesSlides/notesSlide9.xml" Id="Rd1de0f7e53724fd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25478C-AE6D-4743-BCA2-58267A8A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755B20-1BED-4AB4-BD91-239767FB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MILPA-360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3D23B-4B4E-48E3-88B0-78873094C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01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5C30B1-D15C-4CDA-B107-6F641D7D3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62AF20-C1A6-406C-8C5D-CCA60C7E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85925"/>
            <a:ext cx="4095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Sustrato en movimiento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B6980-9000-4125-9EE8-FC91F3A99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3714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Recuperación de sustrato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Residuos animales</a:t>
            </a:r>
          </a:p>
          <a:p xmlns:a="http://schemas.openxmlformats.org/drawingml/2006/main">
            <a:pPr>
              <a:defRPr sz="20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Cultivo complementario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693EB-D9FF-4178-A1A8-06319B11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3875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Aldo Fabio Contreras Marroquín</a:t>
            </a:r>
          </a:p>
          <a:p xmlns:a="http://schemas.openxmlformats.org/drawingml/2006/main">
            <a:pPr>
              <a:defRPr sz="15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5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Equipo BioMars Chiapas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109c4e48e420e"/>
          <a:stretch xmlns:a="http://schemas.openxmlformats.org/drawingml/2006/main"/>
        </p:blipFill>
        <p:spPr>
          <a:xfrm xmlns:a="http://schemas.openxmlformats.org/drawingml/2006/main">
            <a:off x="4476750" y="1750219"/>
            <a:ext cx="7239000" cy="407193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36006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B4ECCF-F03A-4455-8994-D625FE7D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D0698-2C56-43D1-8BEF-EBE7E4259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Procesos conectados y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A029E-29DA-4647-A536-9D119D85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02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0555D-30B2-4D47-AEA8-631FA5E6A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42B93B-E04C-41E9-9028-6134FA68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00225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Animal → residuo → cultivo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B7CEA1-CC51-4273-AC94-D3E975F4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0"/>
            <a:ext cx="5286375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Salmuera: reactor separado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Digestato: retención y análisis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Liberación: autorización del lote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69E889-1A7C-4991-8651-027AA822D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0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requisito de 100%</a:t>
            </a:r>
          </a:p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sigue sin demostrarse.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65e841fb844f4"/>
          <a:stretch xmlns:a="http://schemas.openxmlformats.org/drawingml/2006/main"/>
        </p:blipFill>
        <p:spPr>
          <a:xfrm xmlns:a="http://schemas.openxmlformats.org/drawingml/2006/main">
            <a:off x="6238875" y="2521148"/>
            <a:ext cx="5429250" cy="305395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9071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11A893-0496-445A-84E9-5850F3FC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130345-42AF-450D-AC0F-689E8375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Veinte cartuchos, una trayectoria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3300DC-752D-4BD2-A924-18ACFCD23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03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33692-5D85-4B19-A8AE-5D3CE144E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E863F2-02FF-4247-A068-7CA8E576A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14500"/>
            <a:ext cx="209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69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611C0-CE92-46F0-8BA6-E07CB2233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95600"/>
            <a:ext cx="471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8 regeneración + 12 cultivo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CBBE77-4DBF-4CBB-A956-F277D05D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3.086 m² útiles de cultivo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Ø 4.56 m nominal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≈1.98 t de masa móvil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41BF1C-4BC1-4FCC-A3FD-E0E633156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7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Entrada / evacuación pendiente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04c500a51a48a1"/>
          <a:stretch xmlns:a="http://schemas.openxmlformats.org/drawingml/2006/main"/>
        </p:blipFill>
        <p:spPr>
          <a:xfrm xmlns:a="http://schemas.openxmlformats.org/drawingml/2006/main">
            <a:off x="6191250" y="2312491"/>
            <a:ext cx="5476875" cy="308074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101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EC7945-AF33-4565-96A8-FF5BEE55E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831F34-521B-4A9A-9BF4-FC6C0708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Cada lote conserva su historia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DE269A-AFF0-4E18-A99E-9E6B67F5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04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460DC-B367-4B75-81A9-CE4039DFC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76AC27-D7A5-479F-9C97-91A41D4C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811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62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62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Tratamiento → muestra → decisión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11C2D6-69B3-47E8-85B1-5E5DFFE2C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00350"/>
            <a:ext cx="552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Sin análisis: retención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Fallo: daño persistente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Reemplazo: recursos limitados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B446C-127B-4C30-BC5C-7549110F9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57800"/>
            <a:ext cx="561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Respuesta biológica ilustrativa.</a:t>
            </a:r>
          </a:p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El control no es un análisis químico.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499918e08141e2"/>
          <a:stretch xmlns:a="http://schemas.openxmlformats.org/drawingml/2006/main"/>
        </p:blipFill>
        <p:spPr>
          <a:xfrm xmlns:a="http://schemas.openxmlformats.org/drawingml/2006/main">
            <a:off x="6334125" y="2619375"/>
            <a:ext cx="5334000" cy="300037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5127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B9F4B3-3424-4717-8C14-D491E6986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C99A1-EAA3-48C3-B095-D68C596E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Alimento complementario, energía externa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37C0BE-735E-4CB8-B3A6-F81C00D6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05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799800-1165-459C-A211-FFFDD60AD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F01CB-D421-4B55-95EB-296C7D46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3905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defRPr>
            </a:pPr>
            <a:r>
              <a:rPr sz="8100">
                <a:solidFill>
                  <a:srgbClr val="A8C98C"/>
                </a:solidFill>
                <a:latin typeface="Bodoni Moda"/>
                <a:ea typeface="Bodoni Moda"/>
                <a:cs typeface="Bodoni Moda"/>
              </a:rPr>
              <a:t>2.46%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B9C70-9617-4823-B866-11EB16DB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533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 las kcal de seis personas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CB1DA3-1272-4D30-991A-DA741277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95725"/>
            <a:ext cx="571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447 kcal/d entre huevo y vegetales</a:t>
            </a:r>
          </a:p>
          <a:p xmlns:a="http://schemas.openxmlformats.org/drawingml/2006/main">
            <a:pPr>
              <a:defRPr sz="19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0.7704 kg/d de ración animal importada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391D6-051C-42D8-808D-43598983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9526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25.26 kWh eléctricos/d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357C35-1E1C-44FF-BC73-FF638E6EC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667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8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Subtotal del escenario modelado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BBEC0-D5D1-413D-999A-C69FB7EA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705225"/>
            <a:ext cx="4857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5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0.199 kWh químicos/d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89FE0-B0D9-4CE1-9833-6885E629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438650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Biogás antes de conversión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804CAD-FCFF-4AAD-8A70-3D3794D5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3402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8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10.48 kWh/d son luz. Auxiliares y térmica con supuestos; faltan cargas.</a:t>
            </a:r>
          </a:p>
        </p:txBody>
      </p:sp>
    </p:spTree>
    <p:extLst>
      <p:ext uri="{BB962C8B-B14F-4D97-AF65-F5344CB8AC3E}">
        <p14:creationId xmlns:p14="http://schemas.microsoft.com/office/powerpoint/2010/main" val="151980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97B46F-B13B-448D-A957-2295008A7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9CC6E-163D-46A8-B609-FF902CCD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Evidencia disponible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F7CE14-F1E7-4E7F-A0E8-EC2DE05A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06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5FE04-1B55-4823-823D-73262099A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3035E-E0C4-4463-B53C-0B3ABD76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5429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475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Verificado digitalmente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B79520-C4F6-4772-8C15-27EA14A0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57475"/>
            <a:ext cx="5238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Cálculos y geometría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Estado reproducible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Demo sin Internet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D907D-D586-4DA7-81B0-25B20A188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95875"/>
            <a:ext cx="552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Pendiente: carga real, acceso,</a:t>
            </a:r>
          </a:p>
          <a:p xmlns:a="http://schemas.openxmlformats.org/drawingml/2006/main">
            <a:pPr>
              <a:defRPr sz="2025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025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agua medida e inocuidad.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d40856f73a44ab"/>
          <a:stretch xmlns:a="http://schemas.openxmlformats.org/drawingml/2006/main"/>
        </p:blipFill>
        <p:spPr>
          <a:xfrm xmlns:a="http://schemas.openxmlformats.org/drawingml/2006/main">
            <a:off x="6381750" y="1884759"/>
            <a:ext cx="5286375" cy="39647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8273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4F6C52-8FAC-4BB2-9C94-4F7764040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4657B-78AF-4730-840D-A5E72DFF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Un piloto acotado en Tuxtla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AB31E2-7324-4965-A6DF-0EC9888E2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07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380018-16B0-45FD-8F98-E2E048CB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52B286-B959-4414-A83B-9A34829DE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57375"/>
            <a:ext cx="11239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31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6 recipientes / 3 pares independientes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90DF9E-33F0-42AF-8C00-74A8D39F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05125"/>
            <a:ext cx="5048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Riego manual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1F935-46C0-45F9-9642-ADF14AB6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05125"/>
            <a:ext cx="5238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Goteo + aislamiento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9EC1AE-B31D-45AC-82AC-AB8917010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0047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21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Misma especie, sustrato y condiciones comparables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2D623F-30B2-490F-B44D-6171076F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0057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325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Medir agua nueva/kg utilizable, tiempo y energía.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55280-DFDD-4B3F-97EC-ECDAFAF6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53075"/>
            <a:ext cx="10763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195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Sitio, operador, línea base y resultados pendientes.</a:t>
            </a:r>
          </a:p>
        </p:txBody>
      </p:sp>
    </p:spTree>
    <p:extLst>
      <p:ext uri="{BB962C8B-B14F-4D97-AF65-F5344CB8AC3E}">
        <p14:creationId xmlns:p14="http://schemas.microsoft.com/office/powerpoint/2010/main" val="119760428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B0C19F-9610-4F2F-A5B9-B369F337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A214EC-A60D-410A-9723-8C2148B1A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Costes separados por alcance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CDCD4D-9609-4E17-842C-9B26A1F9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08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9FEEFE-B767-4CD6-ABD0-AAA09BE9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533400" y="1905000"/>
          <a:ext xmlns:a="http://schemas.openxmlformats.org/drawingml/2006/main" cx="111252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3905250"/>
                <a:gridCol w="3838575"/>
              </a:tblGrid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Alcance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Disponibilidad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A8C98C"/>
                          </a:solidFill>
                          <a:latin typeface="Archivo"/>
                          <a:ea typeface="Archivo"/>
                          <a:cs typeface="Archivo"/>
                        </a:rPr>
                        <a:t>Brecha</a:t>
                      </a:r>
                    </a:p>
                  </a:txBody>
                  <a:tcPr marL="91440" marR="91440" marT="45720" marB="45720">
                    <a:solidFill>
                      <a:srgbClr val="23404A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Maqueta Madrid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19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Fabricación y recursos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Piloto Chiapas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20 partidas preliminares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Sitio, análisis y operación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  <a:tr h="750094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Concepto marciano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Recursos dimensionales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EDF0E9"/>
                          </a:solidFill>
                          <a:latin typeface="Archivo"/>
                          <a:ea typeface="Archivo"/>
                          <a:cs typeface="Archivo"/>
                        </a:rPr>
                        <a:t>Integración y ciclo de vida</a:t>
                      </a:r>
                    </a:p>
                  </a:txBody>
                  <a:tcPr marL="91440" marR="91440" marT="45720" marB="45720">
                    <a:solidFill>
                      <a:srgbClr val="0B171D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CD5032-0437-4BC5-9B48-50928546B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E89D64"/>
                </a:solidFill>
                <a:latin typeface="Archivo"/>
                <a:ea typeface="Archivo"/>
                <a:cs typeface="Archivo"/>
              </a:defRPr>
            </a:pPr>
            <a:r>
              <a:rPr sz="2100">
                <a:solidFill>
                  <a:srgbClr val="E89D64"/>
                </a:solidFill>
                <a:latin typeface="Archivo"/>
                <a:ea typeface="Archivo"/>
                <a:cs typeface="Archivo"/>
              </a:rPr>
              <a:t>Precios públicos parciales. Total de compra pendiente.</a:t>
            </a:r>
          </a:p>
        </p:txBody>
      </p:sp>
    </p:spTree>
    <p:extLst>
      <p:ext uri="{BB962C8B-B14F-4D97-AF65-F5344CB8AC3E}">
        <p14:creationId xmlns:p14="http://schemas.microsoft.com/office/powerpoint/2010/main" val="21006910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7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CA137-653B-48C1-AB92-4C96C17C4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76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00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BIOMARS CHIAPAS / MADRID · V2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DD60A2-4C1D-49C4-9FA2-E01501CF4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04850"/>
            <a:ext cx="11144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defRPr>
            </a:pPr>
            <a:r>
              <a:rPr sz="4050">
                <a:solidFill>
                  <a:srgbClr val="EDF0E9"/>
                </a:solidFill>
                <a:latin typeface="Bodoni Moda"/>
                <a:ea typeface="Bodoni Moda"/>
                <a:cs typeface="Bodoni Moda"/>
              </a:rPr>
              <a:t>La siguiente demostración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A50D21-88E9-4535-93E3-DC703328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315075"/>
            <a:ext cx="1095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>
                <a:solidFill>
                  <a:srgbClr val="A7BDC3"/>
                </a:solidFill>
                <a:latin typeface="IBM Plex Mono"/>
                <a:ea typeface="IBM Plex Mono"/>
                <a:cs typeface="IBM Plex Mono"/>
              </a:rPr>
              <a:t>09 /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75915F-FFED-4E43-853A-CC0E17CD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15075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BDC3"/>
                </a:solidFill>
                <a:latin typeface="Archivo"/>
                <a:ea typeface="Archivo"/>
                <a:cs typeface="Archivo"/>
              </a:defRPr>
            </a:pPr>
            <a:r>
              <a:rPr sz="1275">
                <a:solidFill>
                  <a:srgbClr val="A7BDC3"/>
                </a:solidFill>
                <a:latin typeface="Archivo"/>
                <a:ea typeface="Archivo"/>
                <a:cs typeface="Archivo"/>
              </a:rPr>
              <a:t>Concepto y cálculo · sin validación física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652F95-7DC1-4847-9784-09D96B51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09775"/>
            <a:ext cx="10668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Acceso y extracción practicables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Indexado con carga medida</a:t>
            </a:r>
          </a:p>
          <a:p xmlns:a="http://schemas.openxmlformats.org/drawingml/2006/main">
            <a:pPr>
              <a:defRPr sz="2850">
                <a:solidFill>
                  <a:srgbClr val="A8C98C"/>
                </a:solidFill>
                <a:latin typeface="Archivo"/>
                <a:ea typeface="Archivo"/>
                <a:cs typeface="Archivo"/>
              </a:defRPr>
            </a:pPr>
            <a:r>
              <a:rPr sz="2850">
                <a:solidFill>
                  <a:srgbClr val="A8C98C"/>
                </a:solidFill>
                <a:latin typeface="Archivo"/>
                <a:ea typeface="Archivo"/>
                <a:cs typeface="Archivo"/>
              </a:rPr>
              <a:t>Riego e aislamiento verificables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2B2236-E3FC-4E80-ADBF-A1F112840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48225"/>
            <a:ext cx="1085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Comparar el carrusel con una solución más simple.</a:t>
            </a:r>
          </a:p>
          <a:p xmlns:a="http://schemas.openxmlformats.org/drawingml/2006/main">
            <a:pPr>
              <a:defRPr sz="2250">
                <a:solidFill>
                  <a:srgbClr val="EDF0E9"/>
                </a:solidFill>
                <a:latin typeface="Archivo"/>
                <a:ea typeface="Archivo"/>
                <a:cs typeface="Archivo"/>
              </a:defRPr>
            </a:pPr>
            <a:r>
              <a:rPr sz="2250">
                <a:solidFill>
                  <a:srgbClr val="EDF0E9"/>
                </a:solidFill>
                <a:latin typeface="Archivo"/>
                <a:ea typeface="Archivo"/>
                <a:cs typeface="Archivo"/>
              </a:rPr>
              <a:t>Decidir con mediciones y conservar los límites visibles.</a:t>
            </a:r>
          </a:p>
        </p:txBody>
      </p:sp>
    </p:spTree>
    <p:extLst>
      <p:ext uri="{BB962C8B-B14F-4D97-AF65-F5344CB8AC3E}">
        <p14:creationId xmlns:p14="http://schemas.microsoft.com/office/powerpoint/2010/main" val="8144217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2026-09-21T08:19:39.8470000Z</dcterms:created>
  <dcterms:modified xsi:type="dcterms:W3CDTF">2026-09-21T08:19:39.8480000Z</dcterms:modified>
</coreProperties>
</file>