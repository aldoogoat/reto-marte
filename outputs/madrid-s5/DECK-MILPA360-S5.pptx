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cc4d33131143e1" /><Relationship Type="http://schemas.openxmlformats.org/officeDocument/2006/relationships/extended-properties" Target="/docProps/app.xml" Id="Rbd9edaa1c3484141" /><Relationship Type="http://schemas.openxmlformats.org/officeDocument/2006/relationships/officeDocument" Target="/ppt/presentation.xml" Id="Rc0baf7acd1df4b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1b32e760494e85"/>
  </p:sldMasterIdLst>
  <p:notesMasterIdLst>
    <p:notesMasterId xmlns:r="http://schemas.openxmlformats.org/officeDocument/2006/relationships" r:id="R652ec5c5468a4887"/>
  </p:notesMasterIdLst>
  <p:sldIdLst>
    <p:sldId xmlns:r="http://schemas.openxmlformats.org/officeDocument/2006/relationships" id="256" r:id="Rde6d6e158ac44a10"/>
    <p:sldId xmlns:r="http://schemas.openxmlformats.org/officeDocument/2006/relationships" id="257" r:id="R85c768881a034bca"/>
    <p:sldId xmlns:r="http://schemas.openxmlformats.org/officeDocument/2006/relationships" id="258" r:id="Re015105545a54d82"/>
    <p:sldId xmlns:r="http://schemas.openxmlformats.org/officeDocument/2006/relationships" id="259" r:id="Rdf7d07c3759e47e5"/>
    <p:sldId xmlns:r="http://schemas.openxmlformats.org/officeDocument/2006/relationships" id="260" r:id="Rb203eee5a5694111"/>
    <p:sldId xmlns:r="http://schemas.openxmlformats.org/officeDocument/2006/relationships" id="261" r:id="R98c197fc93294973"/>
    <p:sldId xmlns:r="http://schemas.openxmlformats.org/officeDocument/2006/relationships" id="262" r:id="R9499f3b8169a4427"/>
    <p:sldId xmlns:r="http://schemas.openxmlformats.org/officeDocument/2006/relationships" id="263" r:id="R4199dd25232249c4"/>
    <p:sldId xmlns:r="http://schemas.openxmlformats.org/officeDocument/2006/relationships" id="264" r:id="R9ccaed894ddf4c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76014906c74838" /><Relationship Type="http://schemas.openxmlformats.org/officeDocument/2006/relationships/slideMaster" Target="/ppt/slideMasters/slideMaster1.xml" Id="R1f1b32e760494e85" /><Relationship Type="http://schemas.openxmlformats.org/officeDocument/2006/relationships/notesMaster" Target="/ppt/notesMasters/notesMaster1.xml" Id="R652ec5c5468a4887" /><Relationship Type="http://schemas.openxmlformats.org/officeDocument/2006/relationships/presProps" Target="/ppt/presProps.xml" Id="R3936b9f92a0c42a1" /><Relationship Type="http://schemas.openxmlformats.org/officeDocument/2006/relationships/tableStyles" Target="/ppt/tableStyles.xml" Id="Re90e177d24fc4141" /><Relationship Type="http://schemas.openxmlformats.org/officeDocument/2006/relationships/slide" Target="/ppt/slides/slide1.xml" Id="Rde6d6e158ac44a10" /><Relationship Type="http://schemas.openxmlformats.org/officeDocument/2006/relationships/slide" Target="/ppt/slides/slide2.xml" Id="R85c768881a034bca" /><Relationship Type="http://schemas.openxmlformats.org/officeDocument/2006/relationships/slide" Target="/ppt/slides/slide3.xml" Id="Re015105545a54d82" /><Relationship Type="http://schemas.openxmlformats.org/officeDocument/2006/relationships/slide" Target="/ppt/slides/slide4.xml" Id="Rdf7d07c3759e47e5" /><Relationship Type="http://schemas.openxmlformats.org/officeDocument/2006/relationships/slide" Target="/ppt/slides/slide5.xml" Id="Rb203eee5a5694111" /><Relationship Type="http://schemas.openxmlformats.org/officeDocument/2006/relationships/slide" Target="/ppt/slides/slide6.xml" Id="R98c197fc93294973" /><Relationship Type="http://schemas.openxmlformats.org/officeDocument/2006/relationships/slide" Target="/ppt/slides/slide7.xml" Id="R9499f3b8169a4427" /><Relationship Type="http://schemas.openxmlformats.org/officeDocument/2006/relationships/slide" Target="/ppt/slides/slide8.xml" Id="R4199dd25232249c4" /><Relationship Type="http://schemas.openxmlformats.org/officeDocument/2006/relationships/slide" Target="/ppt/slides/slide9.xml" Id="R9ccaed894ddf4c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415cc7c2ea41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7c8dc443e94781" /><Relationship Type="http://schemas.openxmlformats.org/officeDocument/2006/relationships/notesMaster" Target="/ppt/notesMasters/notesMaster1.xml" Id="Rd5ea340cd14549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6d2c1bafed4e8d" /><Relationship Type="http://schemas.openxmlformats.org/officeDocument/2006/relationships/notesMaster" Target="/ppt/notesMasters/notesMaster1.xml" Id="Re2453cc51e9d4c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9a4d899aaf4531" /><Relationship Type="http://schemas.openxmlformats.org/officeDocument/2006/relationships/notesMaster" Target="/ppt/notesMasters/notesMaster1.xml" Id="R97baeb9199ff4b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4a23ff112a450f" /><Relationship Type="http://schemas.openxmlformats.org/officeDocument/2006/relationships/notesMaster" Target="/ppt/notesMasters/notesMaster1.xml" Id="Rb3a7a1cd5caf48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d1e9522c614f65" /><Relationship Type="http://schemas.openxmlformats.org/officeDocument/2006/relationships/notesMaster" Target="/ppt/notesMasters/notesMaster1.xml" Id="Rc1e57f15c41949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25408d6b544db1" /><Relationship Type="http://schemas.openxmlformats.org/officeDocument/2006/relationships/notesMaster" Target="/ppt/notesMasters/notesMaster1.xml" Id="Rce6fba52895b44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ad4bcdf9874678" /><Relationship Type="http://schemas.openxmlformats.org/officeDocument/2006/relationships/notesMaster" Target="/ppt/notesMasters/notesMaster1.xml" Id="Rc548c2c99a0c4a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9ebb60bd664045" /><Relationship Type="http://schemas.openxmlformats.org/officeDocument/2006/relationships/notesMaster" Target="/ppt/notesMasters/notesMaster1.xml" Id="Rf375f76db99748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2897e479cd4d63" /><Relationship Type="http://schemas.openxmlformats.org/officeDocument/2006/relationships/notesMaster" Target="/ppt/notesMasters/notesMaster1.xml" Id="Rc5eaa76c737545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0:00–0:30 · Lámina 1 · La propuesta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Somos BioMars Chiapas. MILPA-360 es una propuesta para conectar recuperación de</a:t>
            </a:r>
          </a:p>
          <a:p xmlns:a="http://schemas.openxmlformats.org/drawingml/2006/main">
            <a:r>
              <a:t>sustrato, aprovechamiento de residuos animales y cultivo. Presentamos un concepto</a:t>
            </a:r>
          </a:p>
          <a:p xmlns:a="http://schemas.openxmlformats.org/drawingml/2006/main">
            <a:r>
              <a:t>de ingeniería y su demostrador digital. Nuestro objetivo hoy es explicar cómo</a:t>
            </a:r>
          </a:p>
          <a:p xmlns:a="http://schemas.openxmlformats.org/drawingml/2006/main">
            <a:r>
              <a:t>funciona, cuánto puede aportar y qué falta demostrar antes de construir un piloto.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P5-DEFENSA.md §1; captura hero, escena nominal S5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0:30–1:00 · Lámina 2 · Las tres funciones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 lote de sustrato recibe un tratamiento, pasa por estaciones y llega a cultivo</a:t>
            </a:r>
          </a:p>
          <a:p xmlns:a="http://schemas.openxmlformats.org/drawingml/2006/main">
            <a:r>
              <a:t>sólo después de control de calidad. Los residuos se asignan a rutas concretas:</a:t>
            </a:r>
          </a:p>
          <a:p xmlns:a="http://schemas.openxmlformats.org/drawingml/2006/main">
            <a:r>
              <a:t>larvario, digestión y retención. La salmuera permanece en un reactor separado.</a:t>
            </a:r>
          </a:p>
          <a:p xmlns:a="http://schemas.openxmlformats.org/drawingml/2006/main">
            <a:r>
              <a:t>Este esquema conserva las tres partes del reto; todavía no demuestra recuperación</a:t>
            </a:r>
          </a:p>
          <a:p xmlns:a="http://schemas.openxmlformats.org/drawingml/2006/main">
            <a:r>
              <a:t>del cien por ciento ni seguridad sanitaria. Son requisitos que mantenemos abiertos.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Matriz RU, P1 D3–D5, P5 §2/4; P05-procesos S5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1:00–1:40 · Lámina 3 · Mecanismo y escala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Ahora usamos veinte cartuchos idénticos en un solo anillo. El mismo recipiente</a:t>
            </a:r>
          </a:p>
          <a:p xmlns:a="http://schemas.openxmlformats.org/drawingml/2006/main">
            <a:r>
              <a:t>cambia de etapa: evitamos transferencias imaginarias entre bandejas distintas.</a:t>
            </a:r>
          </a:p>
          <a:p xmlns:a="http://schemas.openxmlformats.org/drawingml/2006/main">
            <a:r>
              <a:t>La configuración tiene 3.086 metros cuadrados útiles de cultivo y un diámetro</a:t>
            </a:r>
          </a:p>
          <a:p xmlns:a="http://schemas.openxmlformats.org/drawingml/2006/main">
            <a:r>
              <a:t>nominal de 4.56 metros. La masa móvil estimada es casi dos toneladas. La figura</a:t>
            </a:r>
          </a:p>
          <a:p xmlns:a="http://schemas.openxmlformats.org/drawingml/2006/main">
            <a:r>
              <a:t>humana da escala, pero el anillo aún corta la entrada. Estudiamos un sector de</a:t>
            </a:r>
          </a:p>
          <a:p xmlns:a="http://schemas.openxmlformats.org/drawingml/2006/main">
            <a:r>
              <a:t>servicio desmontable; no presentamos el acceso ni la resistencia como resueltos.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parameters.json; milpa360_p2.py; milpa360_p4.py; P5 §3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1:40–2:15 · Lámina 4 · Control por lote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lote conserva historial. Sin análisis aceptable permanece retenido. Si se</a:t>
            </a:r>
          </a:p>
          <a:p xmlns:a="http://schemas.openxmlformats.org/drawingml/2006/main">
            <a:r>
              <a:t>rechaza, el modelo permite aislarlo con recursos de reemplazo limitados. Una bomba</a:t>
            </a:r>
          </a:p>
          <a:p xmlns:a="http://schemas.openxmlformats.org/drawingml/2006/main">
            <a:r>
              <a:t>averiada reduce agua disponible y una tormenta reduce energía para iluminación.</a:t>
            </a:r>
          </a:p>
          <a:p xmlns:a="http://schemas.openxmlformats.org/drawingml/2006/main">
            <a:r>
              <a:t>El daño no desaparece al pulsar reparar. Estas reglas permiten discutir operación</a:t>
            </a:r>
          </a:p>
          <a:p xmlns:a="http://schemas.openxmlformats.org/drawingml/2006/main">
            <a:r>
              <a:t>y fallos, pero todavía no están calibradas con cultivos reales.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milpa360-modelo.js; verificar_p3.cjs; P5 §5; captura tormenta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2:15–2:55 · Lámina 5 · Aporte y dependencias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 los supuestos terrestres actuales, huevo y vegetales suman unas 447 kilocalorías</a:t>
            </a:r>
          </a:p>
          <a:p xmlns:a="http://schemas.openxmlformats.org/drawingml/2006/main">
            <a:r>
              <a:t>al día: 2.46 por ciento de lo necesario para seis personas. Las aves consumen</a:t>
            </a:r>
          </a:p>
          <a:p xmlns:a="http://schemas.openxmlformats.org/drawingml/2006/main">
            <a:r>
              <a:t>ración importada. La iluminación requiere unas 10.48 kilovatios hora eléctricos</a:t>
            </a:r>
          </a:p>
          <a:p xmlns:a="http://schemas.openxmlformats.org/drawingml/2006/main">
            <a:r>
              <a:t>al día; al añadir auxiliares y térmica supuestos, el escenario suma unos 25.26,</a:t>
            </a:r>
          </a:p>
          <a:p xmlns:a="http://schemas.openxmlformats.org/drawingml/2006/main">
            <a:r>
              <a:t>todavía con cargas excluidas. El biogás aporta 0.199 kilovatios hora químicos.</a:t>
            </a:r>
          </a:p>
          <a:p xmlns:a="http://schemas.openxmlformats.org/drawingml/2006/main">
            <a:r>
              <a:t>Reservamos la dieta completa sin descontar cosechas no validadas. El valor a investigar está en</a:t>
            </a:r>
          </a:p>
          <a:p xmlns:a="http://schemas.openxmlformats.org/drawingml/2006/main">
            <a:r>
              <a:t>alimento fresco y recuperación controlada, con sus costes medidos.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milpa360_p1.py; MILPA_DATOS.balance; P5 §4, fuentes BVAD/USDA/PMC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2:55–3:25 · Lámina 6 · Qué se verificó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Ya podemos regenerar parámetros, cálculos y planos, ejecutar la demo sin Internet</a:t>
            </a:r>
          </a:p>
          <a:p xmlns:a="http://schemas.openxmlformats.org/drawingml/2006/main">
            <a:r>
              <a:t>y repetir escenarios. No tenemos todavía ensayos físicos registrados. Preparamos</a:t>
            </a:r>
          </a:p>
          <a:p xmlns:a="http://schemas.openxmlformats.org/drawingml/2006/main">
            <a:r>
              <a:t>pruebas de movimiento con carga, riego y aislamiento. Primero debemos comprobar</a:t>
            </a:r>
          </a:p>
          <a:p xmlns:a="http://schemas.openxmlformats.org/drawingml/2006/main">
            <a:r>
              <a:t>el mecanismo y la medición; los procesos biológicos y sanitarios exigen supervisión</a:t>
            </a:r>
          </a:p>
          <a:p xmlns:a="http://schemas.openxmlformats.org/drawingml/2006/main">
            <a:r>
              <a:t>competente. Una captura del modelo no reemplaza esos resultados.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Pruebas P1/P2/P3/P4; VERIFICACION-BLENDER.json; ensayos CSV sin mediciones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3:25–4:05 · Lámina 7 · Chiapas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Proponemos comenzar en un huerto de Tuxtla con una comparación pequeña de riego</a:t>
            </a:r>
          </a:p>
          <a:p xmlns:a="http://schemas.openxmlformats.org/drawingml/2006/main">
            <a:r>
              <a:t>manual y goteo con aislamiento. Son seis recipientes, en tres pares independientes.</a:t>
            </a:r>
          </a:p>
          <a:p xmlns:a="http://schemas.openxmlformats.org/drawingml/2006/main">
            <a:r>
              <a:t>Mediremos agua nueva por kilo utilizable, trabajo y energía. Sitio, operador y</a:t>
            </a:r>
          </a:p>
          <a:p xmlns:a="http://schemas.openxmlformats.org/drawingml/2006/main">
            <a:r>
              <a:t>línea base están pendientes. Así podremos decidir con datos si una función del</a:t>
            </a:r>
          </a:p>
          <a:p xmlns:a="http://schemas.openxmlformats.org/drawingml/2006/main">
            <a:r>
              <a:t>concepto merece crecer. No prometemos ahorro antes de obtener una cosecha comparable.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P4-PRESUPUESTO-CHIAPAS.md; protocolo exploratorio, sitio y operador pendientes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4:05–4:35 · Lámina 8 · Recursos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Separamos los costes de la maqueta Madrid, el piloto Chiapas y el concepto marciano.</a:t>
            </a:r>
          </a:p>
          <a:p xmlns:a="http://schemas.openxmlformats.org/drawingml/2006/main">
            <a:r>
              <a:t>Tenemos partidas y algunas referencias públicas; faltan cotizaciones y fabricación.</a:t>
            </a:r>
          </a:p>
          <a:p xmlns:a="http://schemas.openxmlformats.org/drawingml/2006/main">
            <a:r>
              <a:t>No usamos un subtotal como precio del proyecto ni un precio comercial como coste</a:t>
            </a:r>
          </a:p>
          <a:p xmlns:a="http://schemas.openxmlformats.org/drawingml/2006/main">
            <a:r>
              <a:t>de equipo espacial. El siguiente gasto debe responder a la incertidumbre que</a:t>
            </a:r>
          </a:p>
          <a:p xmlns:a="http://schemas.openxmlformats.org/drawingml/2006/main">
            <a:r>
              <a:t>queramos reducir, especialmente acceso, accionamiento y medición del agua.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presupuesto S4; XLSX con fórmulas. No precio total ni cotización formal.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4:35–5:00 · Lámina 9 · Siguiente demostración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siguiente evidencia que necesitamos es una transferencia o acceso practicable,</a:t>
            </a:r>
          </a:p>
          <a:p xmlns:a="http://schemas.openxmlformats.org/drawingml/2006/main">
            <a:r>
              <a:t>un indexado medido y una prueba independiente de riego e aislamiento. MILPA-360</a:t>
            </a:r>
          </a:p>
          <a:p xmlns:a="http://schemas.openxmlformats.org/drawingml/2006/main">
            <a:r>
              <a:t>conserva la idea de conectar procesos mediante el movimiento del sustrato. Ahora</a:t>
            </a:r>
          </a:p>
          <a:p xmlns:a="http://schemas.openxmlformats.org/drawingml/2006/main">
            <a:r>
              <a:t>la acompañamos con límites, trazabilidad y ensayos que permitirán decidir si esa</a:t>
            </a:r>
          </a:p>
          <a:p xmlns:a="http://schemas.openxmlformats.org/drawingml/2006/main">
            <a:r>
              <a:t>complejidad aporta una ventaja real frente a una solución más simple.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protocolos E1–E4; P5 §3/6; hipótesis, sin patente ni ensayos concluidos</a:t>
            </a:r>
          </a:p>
          <a:p xmlns:a="http://schemas.openxmlformats.org/drawingml/2006/main">
            <a:r>
              <a:t>Cierre acumulado 21 sep 2026: CALCULOS-CIERRE.md y CIERRE-ACUMULADO.md. Capturas geométricas S5 reutilizadas;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6b994b8e8a4e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31885453144d2f" /><Relationship Type="http://schemas.openxmlformats.org/officeDocument/2006/relationships/slideLayout" Target="/ppt/slideLayouts/slideLayout1.xml" Id="R8aded7cdb5d742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ded7cdb5d742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d37d46a834d60" /><Relationship Type="http://schemas.openxmlformats.org/officeDocument/2006/relationships/image" Target="/ppt/media/image.png" Id="R3c2244174da14023" /><Relationship Type="http://schemas.openxmlformats.org/officeDocument/2006/relationships/notesSlide" Target="/ppt/notesSlides/notesSlide1.xml" Id="R92363ba665c244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49dbb680d4ad4" /><Relationship Type="http://schemas.openxmlformats.org/officeDocument/2006/relationships/image" Target="/ppt/media/image2.png" Id="R43de1d535c75467a" /><Relationship Type="http://schemas.openxmlformats.org/officeDocument/2006/relationships/notesSlide" Target="/ppt/notesSlides/notesSlide2.xml" Id="Rfbc1a3089ec544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074b342ad41ca" /><Relationship Type="http://schemas.openxmlformats.org/officeDocument/2006/relationships/image" Target="/ppt/media/image3.png" Id="Rf4fa1ec4cfec4ed5" /><Relationship Type="http://schemas.openxmlformats.org/officeDocument/2006/relationships/notesSlide" Target="/ppt/notesSlides/notesSlide3.xml" Id="Rfc7fa12e64d449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6d89ee1f964ee6" /><Relationship Type="http://schemas.openxmlformats.org/officeDocument/2006/relationships/image" Target="/ppt/media/image4.png" Id="R304891dfba144903" /><Relationship Type="http://schemas.openxmlformats.org/officeDocument/2006/relationships/notesSlide" Target="/ppt/notesSlides/notesSlide4.xml" Id="Rf18728ade98044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b24cb9f7a46ae" /><Relationship Type="http://schemas.openxmlformats.org/officeDocument/2006/relationships/notesSlide" Target="/ppt/notesSlides/notesSlide5.xml" Id="R23362b3d1b7045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5efc721944522" /><Relationship Type="http://schemas.openxmlformats.org/officeDocument/2006/relationships/image" Target="/ppt/media/image5.png" Id="R3d47f325c36e4687" /><Relationship Type="http://schemas.openxmlformats.org/officeDocument/2006/relationships/notesSlide" Target="/ppt/notesSlides/notesSlide6.xml" Id="R94a7f2e324584e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5c8292f014bd7" /><Relationship Type="http://schemas.openxmlformats.org/officeDocument/2006/relationships/notesSlide" Target="/ppt/notesSlides/notesSlide7.xml" Id="Reff782f577a54d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18740501a461b" /><Relationship Type="http://schemas.openxmlformats.org/officeDocument/2006/relationships/notesSlide" Target="/ppt/notesSlides/notesSlide8.xml" Id="R5fb1835d58aa47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81d8d61454523" /><Relationship Type="http://schemas.openxmlformats.org/officeDocument/2006/relationships/notesSlide" Target="/ppt/notesSlides/notesSlide9.xml" Id="R2958fff08854490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BF43C-35AB-4BEC-B500-96C80543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733EB-CAD4-4C69-8869-2BE8F329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MILPA-360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C5316-A970-409D-9124-510D3C88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01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D8B35-D8DB-4CD1-86DA-89F1EB1A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BB544-B390-4F44-A673-F9CDCEEA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85925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Sustrato en movimiento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B1064D-8455-4818-9402-775BC48B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3714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Recuperación de sustrato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Residuos animales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Cultivo complementario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01C4A-3ADA-4B52-ACA1-6503E6D7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Aldo Fabio Contreras Marroquín</a:t>
            </a:r>
          </a:p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Equipo BioMars Chiapas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244174da14023"/>
          <a:stretch xmlns:a="http://schemas.openxmlformats.org/drawingml/2006/main"/>
        </p:blipFill>
        <p:spPr>
          <a:xfrm xmlns:a="http://schemas.openxmlformats.org/drawingml/2006/main">
            <a:off x="4476750" y="1750219"/>
            <a:ext cx="7239000" cy="40719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935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48B29-3E1A-4643-90AC-D07D7079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13AA7-BBF3-4168-848A-8A21877F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Procesos conectados y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7CD79-6968-41A8-91F7-7570E567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02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009B9-EB31-47DC-8AB3-9558758E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32274-445B-45EF-943E-7D8E80B5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02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Animal → residuo → cultivo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EB4A1-D963-4716-8265-192A0945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5286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Salmuera: reactor separado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Digestato: retención y análisis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Liberación: autorización del lote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2AF2A2-7F9E-4540-A416-8B51FCCA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requisito de 100%</a:t>
            </a:r>
          </a:p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sigue sin demostrarse.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e1d535c75467a"/>
          <a:stretch xmlns:a="http://schemas.openxmlformats.org/drawingml/2006/main"/>
        </p:blipFill>
        <p:spPr>
          <a:xfrm xmlns:a="http://schemas.openxmlformats.org/drawingml/2006/main">
            <a:off x="6238875" y="2521148"/>
            <a:ext cx="5429250" cy="305395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9161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79913-604F-4B26-B5BE-05B7AEDA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D4924-E237-4024-873C-76D98E50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Veinte cartuchos, una trayectoria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97256-F82E-47F5-9D1F-4CAA4A6A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03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748C4-DCB2-4096-8275-D69DD70A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88891-F163-445B-814E-7698AB69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2095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37C76-A3D9-4642-9B34-9F2F7843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8 regeneración + 12 cultivo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D8AC2-2D3F-4EA3-8C09-48442E68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3.086 m² útiles de cultivo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Ø 4.56 m nominal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≈1.98 t de masa móvil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C0363-7522-4D70-BA9E-AF3732CF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Entrada / evacuación pendiente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fa1ec4cfec4ed5"/>
          <a:stretch xmlns:a="http://schemas.openxmlformats.org/drawingml/2006/main"/>
        </p:blipFill>
        <p:spPr>
          <a:xfrm xmlns:a="http://schemas.openxmlformats.org/drawingml/2006/main">
            <a:off x="6191250" y="2312491"/>
            <a:ext cx="5476875" cy="308074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5515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4EB42-F890-4889-A65C-941B498C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EEF70-7F41-4BC1-9A0B-1B54F542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Cada lote conserva su historia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DB55C-6205-467C-A86C-F3BDB4B1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04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FE8DE-AD1F-4501-8163-10E41906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FA1A0-73B0-4673-BDA4-8B68D8CE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811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62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Tratamiento → muestra → decisión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CF9B68-C1A4-483C-9CEB-1D6873BF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552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Sin análisis: retención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Fallo: daño persistente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Reemplazo: recursos limitados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70456-A430-453B-A59E-78C91A82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561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Respuesta biológica ilustrativa.</a:t>
            </a:r>
          </a:p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control no es un análisis químico.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4891dfba144903"/>
          <a:stretch xmlns:a="http://schemas.openxmlformats.org/drawingml/2006/main"/>
        </p:blipFill>
        <p:spPr>
          <a:xfrm xmlns:a="http://schemas.openxmlformats.org/drawingml/2006/main">
            <a:off x="6334125" y="2619375"/>
            <a:ext cx="5334000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3912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FD476-B042-401E-80DA-BD1A535A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46086-EC1E-465B-A702-1BB474FA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Alimento complementario, energía externa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B2CC8E-149D-4CBC-A67A-F16D76C7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05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44BA8-5456-4DF3-88B0-8AECF772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52F1A-C4C9-47EB-A476-2F7D182A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2.46%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BB0B7-0345-4840-8D48-38152183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 las kcal de seis personas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2AD3E-AF7A-40C6-9FC1-475844DA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447 kcal/d entre huevo y vegetales</a:t>
            </a:r>
          </a:p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0.7704 kg/d de ración animal importada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E7A69-1C28-40D0-966C-369411DB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9526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25.26 kWh eléctricos/d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E9F3E5-5D4A-4C5C-83C0-036F3B48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667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8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Subtotal del escenario modelado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85841-AC60-45BA-9BE7-D460FF31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7052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0.199 kWh químicos/d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D8A51-409F-4A73-8F23-F98D5E67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438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Biogás antes de conversión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D756E1-4A6F-4112-BA54-7E602530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340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10.48 kWh/d son luz. Auxiliares y térmica con supuestos; faltan cargas.</a:t>
            </a:r>
          </a:p>
        </p:txBody>
      </p:sp>
    </p:spTree>
    <p:extLst>
      <p:ext uri="{BB962C8B-B14F-4D97-AF65-F5344CB8AC3E}">
        <p14:creationId xmlns:p14="http://schemas.microsoft.com/office/powerpoint/2010/main" val="4189612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199F2-CDFD-408B-A685-9889549B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76821-95A6-49F2-99C0-2A2E0B28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Evidencia disponible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F607C-9C0A-433B-BEFD-570C82F3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06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6ABDE-4925-452F-9D9E-133D2B85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D6C35-4403-4A2D-AD85-8F9EFC78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542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47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Verificado digitalmente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43661-A6DA-4D31-A21B-2E0BE604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57475"/>
            <a:ext cx="5238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Cálculos y geometría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Estado reproducible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Demo sin Internet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F01A8-2180-468E-B25D-71B2B149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552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Pendiente: carga real, acceso,</a:t>
            </a:r>
          </a:p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agua medida e inocuidad.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7f325c36e4687"/>
          <a:stretch xmlns:a="http://schemas.openxmlformats.org/drawingml/2006/main"/>
        </p:blipFill>
        <p:spPr>
          <a:xfrm xmlns:a="http://schemas.openxmlformats.org/drawingml/2006/main">
            <a:off x="6381750" y="1884759"/>
            <a:ext cx="5286375" cy="39647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8317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AFA76A-DB0C-403B-B6FB-6CB81338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8A8D7-E26A-483A-AA15-7C44D82D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Un piloto acotado en Tuxtla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B3EFC-51FA-49C8-936C-A942E956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07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AC2F7-AAB3-4A22-8CAF-70E1B1DA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71D59-3197-4ED8-869B-1D2C3AA0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57375"/>
            <a:ext cx="1123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31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6 recipientes / 3 pares independientes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17095-46B5-4B57-B447-86F8ABF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05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Riego manual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0C31B8-30BF-40AE-A678-FFE9C2F0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05125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Goteo + aislamiento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EB512-7210-46EC-99B2-8E156EB1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0047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Misma especie, sustrato y condiciones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FA2BC-10D4-45F1-9AC7-87287734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005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3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Medir agua nueva/kg utilizable, tiempo y energía.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13ECE-FCC3-483F-BDA6-49C6A6F7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530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Sitio, operador, línea base y resultados pendientes.</a:t>
            </a:r>
          </a:p>
        </p:txBody>
      </p:sp>
    </p:spTree>
    <p:extLst>
      <p:ext uri="{BB962C8B-B14F-4D97-AF65-F5344CB8AC3E}">
        <p14:creationId xmlns:p14="http://schemas.microsoft.com/office/powerpoint/2010/main" val="17324842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5D3A6-9E9B-49D7-8C6A-A2FC233C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C8E61-B747-4C6F-9793-F3520851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Costes separados por alcance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B4C5D-5063-46D2-B602-BC9BFEE3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08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BD787F-72B5-4D23-9428-5BECBF43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33400" y="1905000"/>
          <a:ext xmlns:a="http://schemas.openxmlformats.org/drawingml/2006/main" cx="111252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905250"/>
                <a:gridCol w="3838575"/>
              </a:tblGrid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Alcance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Disponibilidad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Brecha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Maqueta Madrid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19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Fabricación y recursos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Piloto Chiapas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20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Sitio, análisis y operación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Concepto marciano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Recursos dimensionales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Integración y ciclo de vida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792EF-0CCF-4CA7-984A-09FCFF22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1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Precios públicos parciales. Total de compra pendiente.</a:t>
            </a:r>
          </a:p>
        </p:txBody>
      </p:sp>
    </p:spTree>
    <p:extLst>
      <p:ext uri="{BB962C8B-B14F-4D97-AF65-F5344CB8AC3E}">
        <p14:creationId xmlns:p14="http://schemas.microsoft.com/office/powerpoint/2010/main" val="3447934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B7C31-B172-47FA-9F69-96C38A29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S5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C740DE-C26B-41BF-97B9-A2D41FA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La siguiente demostración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F6272-0DD2-41DF-B10E-453E8DE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09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42098-1391-4F92-B1ED-77FD6D38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A2A69-BC10-44B5-B197-AE7D2B55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9775"/>
            <a:ext cx="1066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Acceso y extracción practicables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Indexado con carga medida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Riego e aislamiento verificables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449AB7-4611-426A-9BC8-AFA33AC9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8225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Comparar el carrusel con una solución más simple.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Decidir con mediciones y conservar los límites visibles.</a:t>
            </a:r>
          </a:p>
        </p:txBody>
      </p:sp>
    </p:spTree>
    <p:extLst>
      <p:ext uri="{BB962C8B-B14F-4D97-AF65-F5344CB8AC3E}">
        <p14:creationId xmlns:p14="http://schemas.microsoft.com/office/powerpoint/2010/main" val="1757081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2026-09-21T07:15:04.5750000Z</dcterms:created>
  <dcterms:modified xsi:type="dcterms:W3CDTF">2026-09-21T07:15:04.5750000Z</dcterms:modified>
</coreProperties>
</file>