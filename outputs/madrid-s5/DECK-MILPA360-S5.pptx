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61d3a0fc534b50" /><Relationship Type="http://schemas.openxmlformats.org/officeDocument/2006/relationships/extended-properties" Target="/docProps/app.xml" Id="R7d2268e11e8a45ad" /><Relationship Type="http://schemas.openxmlformats.org/officeDocument/2006/relationships/officeDocument" Target="/ppt/presentation.xml" Id="R73e6ca6aa86140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26d375b9c74751"/>
  </p:sldMasterIdLst>
  <p:notesMasterIdLst>
    <p:notesMasterId xmlns:r="http://schemas.openxmlformats.org/officeDocument/2006/relationships" r:id="R1c279b18c2f54152"/>
  </p:notesMasterIdLst>
  <p:sldIdLst>
    <p:sldId xmlns:r="http://schemas.openxmlformats.org/officeDocument/2006/relationships" id="256" r:id="Re106bb85687e4518"/>
    <p:sldId xmlns:r="http://schemas.openxmlformats.org/officeDocument/2006/relationships" id="257" r:id="R32558f85add0475b"/>
    <p:sldId xmlns:r="http://schemas.openxmlformats.org/officeDocument/2006/relationships" id="258" r:id="Rf87a18b5ebfc4893"/>
    <p:sldId xmlns:r="http://schemas.openxmlformats.org/officeDocument/2006/relationships" id="259" r:id="Raad72b3506974452"/>
    <p:sldId xmlns:r="http://schemas.openxmlformats.org/officeDocument/2006/relationships" id="260" r:id="R048e06e38c844f6c"/>
    <p:sldId xmlns:r="http://schemas.openxmlformats.org/officeDocument/2006/relationships" id="261" r:id="Rc4123475f92e4f89"/>
    <p:sldId xmlns:r="http://schemas.openxmlformats.org/officeDocument/2006/relationships" id="262" r:id="Rf6c2166803954450"/>
    <p:sldId xmlns:r="http://schemas.openxmlformats.org/officeDocument/2006/relationships" id="263" r:id="Ree66b29e9808431e"/>
    <p:sldId xmlns:r="http://schemas.openxmlformats.org/officeDocument/2006/relationships" id="264" r:id="Ra036e9fe81c545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2db408fc714ab7" /><Relationship Type="http://schemas.openxmlformats.org/officeDocument/2006/relationships/slideMaster" Target="/ppt/slideMasters/slideMaster1.xml" Id="R9926d375b9c74751" /><Relationship Type="http://schemas.openxmlformats.org/officeDocument/2006/relationships/notesMaster" Target="/ppt/notesMasters/notesMaster1.xml" Id="R1c279b18c2f54152" /><Relationship Type="http://schemas.openxmlformats.org/officeDocument/2006/relationships/presProps" Target="/ppt/presProps.xml" Id="R3a321b383ea44e90" /><Relationship Type="http://schemas.openxmlformats.org/officeDocument/2006/relationships/tableStyles" Target="/ppt/tableStyles.xml" Id="R66bce2ede91a4c97" /><Relationship Type="http://schemas.openxmlformats.org/officeDocument/2006/relationships/slide" Target="/ppt/slides/slide1.xml" Id="Re106bb85687e4518" /><Relationship Type="http://schemas.openxmlformats.org/officeDocument/2006/relationships/slide" Target="/ppt/slides/slide2.xml" Id="R32558f85add0475b" /><Relationship Type="http://schemas.openxmlformats.org/officeDocument/2006/relationships/slide" Target="/ppt/slides/slide3.xml" Id="Rf87a18b5ebfc4893" /><Relationship Type="http://schemas.openxmlformats.org/officeDocument/2006/relationships/slide" Target="/ppt/slides/slide4.xml" Id="Raad72b3506974452" /><Relationship Type="http://schemas.openxmlformats.org/officeDocument/2006/relationships/slide" Target="/ppt/slides/slide5.xml" Id="R048e06e38c844f6c" /><Relationship Type="http://schemas.openxmlformats.org/officeDocument/2006/relationships/slide" Target="/ppt/slides/slide6.xml" Id="Rc4123475f92e4f89" /><Relationship Type="http://schemas.openxmlformats.org/officeDocument/2006/relationships/slide" Target="/ppt/slides/slide7.xml" Id="Rf6c2166803954450" /><Relationship Type="http://schemas.openxmlformats.org/officeDocument/2006/relationships/slide" Target="/ppt/slides/slide8.xml" Id="Ree66b29e9808431e" /><Relationship Type="http://schemas.openxmlformats.org/officeDocument/2006/relationships/slide" Target="/ppt/slides/slide9.xml" Id="Ra036e9fe81c545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5b1e007a8d49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8840110fe64dfa" /><Relationship Type="http://schemas.openxmlformats.org/officeDocument/2006/relationships/notesMaster" Target="/ppt/notesMasters/notesMaster1.xml" Id="R9e8fa47add0c47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039daf48ba4e64" /><Relationship Type="http://schemas.openxmlformats.org/officeDocument/2006/relationships/notesMaster" Target="/ppt/notesMasters/notesMaster1.xml" Id="R62e1328d55874d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2ead35ff4a434d" /><Relationship Type="http://schemas.openxmlformats.org/officeDocument/2006/relationships/notesMaster" Target="/ppt/notesMasters/notesMaster1.xml" Id="R56a488a4935142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567c265e464a94" /><Relationship Type="http://schemas.openxmlformats.org/officeDocument/2006/relationships/notesMaster" Target="/ppt/notesMasters/notesMaster1.xml" Id="Rb648cb7bf8de48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2e591ed7934433" /><Relationship Type="http://schemas.openxmlformats.org/officeDocument/2006/relationships/notesMaster" Target="/ppt/notesMasters/notesMaster1.xml" Id="R217cfcc1aab44c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0bb9ecb5ac4f72" /><Relationship Type="http://schemas.openxmlformats.org/officeDocument/2006/relationships/notesMaster" Target="/ppt/notesMasters/notesMaster1.xml" Id="R3c7fa27fb30448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f5b0965557449e" /><Relationship Type="http://schemas.openxmlformats.org/officeDocument/2006/relationships/notesMaster" Target="/ppt/notesMasters/notesMaster1.xml" Id="R44b386cd2ed243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62ff1a873f49bc" /><Relationship Type="http://schemas.openxmlformats.org/officeDocument/2006/relationships/notesMaster" Target="/ppt/notesMasters/notesMaster1.xml" Id="R67af9925962a4e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269fc0a0a74bfc" /><Relationship Type="http://schemas.openxmlformats.org/officeDocument/2006/relationships/notesMaster" Target="/ppt/notesMasters/notesMaster1.xml" Id="R4895bf771e664f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0:00–0:30 · Lámina 1 · La propuesta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Somos BioMars Chiapas. MILPA-360 es una propuesta para conectar recuperación de</a:t>
            </a:r>
          </a:p>
          <a:p xmlns:a="http://schemas.openxmlformats.org/drawingml/2006/main">
            <a:r>
              <a:t>sustrato, aprovechamiento de residuos animales y cultivo. Presentamos un concepto</a:t>
            </a:r>
          </a:p>
          <a:p xmlns:a="http://schemas.openxmlformats.org/drawingml/2006/main">
            <a:r>
              <a:t>de ingeniería y su demostrador digital. Nuestro objetivo hoy es explicar cómo</a:t>
            </a:r>
          </a:p>
          <a:p xmlns:a="http://schemas.openxmlformats.org/drawingml/2006/main">
            <a:r>
              <a:t>funciona, cuánto puede aportar y qué falta demostrar antes de construir un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Trazabilidad: P5-DEFENSA.md §1; captura hero, escena nominal S5</a:t>
            </a:r>
          </a:p>
          <a:p xmlns:a="http://schemas.openxmlformats.org/drawingml/2006/main">
            <a:r>
              <a:t>Revisión base P4-S3-2026-09-20; capturas S5. B15-B19 abiertos.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0:30–1:00 · Lámina 2 · Las tres funciones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 lote de sustrato recibe un tratamiento, pasa por estaciones y llega a cultivo</a:t>
            </a:r>
          </a:p>
          <a:p xmlns:a="http://schemas.openxmlformats.org/drawingml/2006/main">
            <a:r>
              <a:t>sólo después de control de calidad. Los residuos se asignan a rutas concretas:</a:t>
            </a:r>
          </a:p>
          <a:p xmlns:a="http://schemas.openxmlformats.org/drawingml/2006/main">
            <a:r>
              <a:t>larvario, digestión y retención. La salmuera permanece en un reactor separado.</a:t>
            </a:r>
          </a:p>
          <a:p xmlns:a="http://schemas.openxmlformats.org/drawingml/2006/main">
            <a:r>
              <a:t>Este esquema conserva las tres partes del reto; todavía no demuestra recuperación</a:t>
            </a:r>
          </a:p>
          <a:p xmlns:a="http://schemas.openxmlformats.org/drawingml/2006/main">
            <a:r>
              <a:t>del cien por ciento ni seguridad sanitaria. Son requisitos que mantenemos abiertos.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Trazabilidad: Matriz RU, P1 D3–D5, P5 §2/4; P05-procesos S5</a:t>
            </a:r>
          </a:p>
          <a:p xmlns:a="http://schemas.openxmlformats.org/drawingml/2006/main">
            <a:r>
              <a:t>Revisión base P4-S3-2026-09-20; capturas S5. B15-B19 abiertos.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1:00–1:40 · Lámina 3 · Mecanismo y escala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 usamos veinte cartuchos idénticos en un solo anillo. El mismo recipiente</a:t>
            </a:r>
          </a:p>
          <a:p xmlns:a="http://schemas.openxmlformats.org/drawingml/2006/main">
            <a:r>
              <a:t>cambia de etapa: evitamos transferencias imaginarias entre bandejas distintas.</a:t>
            </a:r>
          </a:p>
          <a:p xmlns:a="http://schemas.openxmlformats.org/drawingml/2006/main">
            <a:r>
              <a:t>La configuración tiene 3.086 metros cuadrados útiles de cultivo y un diámetro</a:t>
            </a:r>
          </a:p>
          <a:p xmlns:a="http://schemas.openxmlformats.org/drawingml/2006/main">
            <a:r>
              <a:t>nominal de 4.56 metros. La masa móvil estimada es casi dos toneladas. La figura</a:t>
            </a:r>
          </a:p>
          <a:p xmlns:a="http://schemas.openxmlformats.org/drawingml/2006/main">
            <a:r>
              <a:t>humana da escala, pero el anillo aún corta la entrada. Estudiamos un sector de</a:t>
            </a:r>
          </a:p>
          <a:p xmlns:a="http://schemas.openxmlformats.org/drawingml/2006/main">
            <a:r>
              <a:t>servicio desmontable; no presentamos el acceso ni la resistencia como resueltos.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Trazabilidad: parameters.json; milpa360_p2.py; milpa360_p4.py; P5 §3</a:t>
            </a:r>
          </a:p>
          <a:p xmlns:a="http://schemas.openxmlformats.org/drawingml/2006/main">
            <a:r>
              <a:t>Revisión base P4-S3-2026-09-20; capturas S5. B15-B19 abiertos.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1:40–2:15 · Lámina 4 · Control por lote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lote conserva historial. Sin análisis aceptable permanece retenido. Si se</a:t>
            </a:r>
          </a:p>
          <a:p xmlns:a="http://schemas.openxmlformats.org/drawingml/2006/main">
            <a:r>
              <a:t>rechaza, el modelo permite aislarlo con recursos de reemplazo limitados. Una bomba</a:t>
            </a:r>
          </a:p>
          <a:p xmlns:a="http://schemas.openxmlformats.org/drawingml/2006/main">
            <a:r>
              <a:t>averiada reduce agua disponible y una tormenta reduce energía para iluminación.</a:t>
            </a:r>
          </a:p>
          <a:p xmlns:a="http://schemas.openxmlformats.org/drawingml/2006/main">
            <a:r>
              <a:t>El daño no desaparece al pulsar reparar. Estas reglas permiten discutir operación</a:t>
            </a:r>
          </a:p>
          <a:p xmlns:a="http://schemas.openxmlformats.org/drawingml/2006/main">
            <a:r>
              <a:t>y fallos, pero todavía no están calibradas con cultivos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Trazabilidad: milpa360-modelo.js; verificar_p3.cjs; P5 §5; captura tormenta</a:t>
            </a:r>
          </a:p>
          <a:p xmlns:a="http://schemas.openxmlformats.org/drawingml/2006/main">
            <a:r>
              <a:t>Revisión base P4-S3-2026-09-20; capturas S5. B15-B19 abiertos.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2:15–2:55 · Lámina 5 · Aporte y dependencias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 los supuestos terrestres actuales, huevo y vegetales suman unas 447 kilocalorías</a:t>
            </a:r>
          </a:p>
          <a:p xmlns:a="http://schemas.openxmlformats.org/drawingml/2006/main">
            <a:r>
              <a:t>al día: 2.46 por ciento de lo necesario para seis personas. Las aves consumen</a:t>
            </a:r>
          </a:p>
          <a:p xmlns:a="http://schemas.openxmlformats.org/drawingml/2006/main">
            <a:r>
              <a:t>ración importada. La iluminación requiere unas 10.48 kilovatios hora eléctricos</a:t>
            </a:r>
          </a:p>
          <a:p xmlns:a="http://schemas.openxmlformats.org/drawingml/2006/main">
            <a:r>
              <a:t>al día. El biogás aporta 0.199 kilovatios hora químicos; no es electricidad neta.</a:t>
            </a:r>
          </a:p>
          <a:p xmlns:a="http://schemas.openxmlformats.org/drawingml/2006/main">
            <a:r>
              <a:t>Por eso necesitamos provisiones y energía externa. El valor a investigar está en</a:t>
            </a:r>
          </a:p>
          <a:p xmlns:a="http://schemas.openxmlformats.org/drawingml/2006/main">
            <a:r>
              <a:t>alimento fresco y recuperación controlada, con sus costes medidos.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Trazabilidad: milpa360_p1.py; MILPA_DATOS.balance; P5 §4, fuentes BVAD/USDA/PMC</a:t>
            </a:r>
          </a:p>
          <a:p xmlns:a="http://schemas.openxmlformats.org/drawingml/2006/main">
            <a:r>
              <a:t>Revisión base P4-S3-2026-09-20; capturas S5. B15-B19 abiertos.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2:55–3:25 · Lámina 6 · Qué se verificó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 podemos regenerar parámetros, cálculos y planos, ejecutar la demo sin Internet</a:t>
            </a:r>
          </a:p>
          <a:p xmlns:a="http://schemas.openxmlformats.org/drawingml/2006/main">
            <a:r>
              <a:t>y repetir escenarios. No tenemos todavía ensayos físicos registrados. Preparamos</a:t>
            </a:r>
          </a:p>
          <a:p xmlns:a="http://schemas.openxmlformats.org/drawingml/2006/main">
            <a:r>
              <a:t>pruebas de movimiento con carga, riego y aislamiento. Primero debemos comprobar</a:t>
            </a:r>
          </a:p>
          <a:p xmlns:a="http://schemas.openxmlformats.org/drawingml/2006/main">
            <a:r>
              <a:t>el mecanismo y la medición; los procesos biológicos y sanitarios exigen supervisión</a:t>
            </a:r>
          </a:p>
          <a:p xmlns:a="http://schemas.openxmlformats.org/drawingml/2006/main">
            <a:r>
              <a:t>competente. Una captura del modelo no reemplaza esos resultados.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Trazabilidad: Pruebas P1/P2/P3/P4; VERIFICACION-BLENDER.json; ensayos CSV sin mediciones</a:t>
            </a:r>
          </a:p>
          <a:p xmlns:a="http://schemas.openxmlformats.org/drawingml/2006/main">
            <a:r>
              <a:t>Revisión base P4-S3-2026-09-20; capturas S5. B15-B19 abiertos.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3:25–4:05 · Lámina 7 · Chiapas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Proponemos comenzar en un huerto de Tuxtla con una comparación pequeña de riego</a:t>
            </a:r>
          </a:p>
          <a:p xmlns:a="http://schemas.openxmlformats.org/drawingml/2006/main">
            <a:r>
              <a:t>manual y goteo con aislamiento. Son seis recipientes, en tres pares independientes.</a:t>
            </a:r>
          </a:p>
          <a:p xmlns:a="http://schemas.openxmlformats.org/drawingml/2006/main">
            <a:r>
              <a:t>Mediremos agua nueva por kilo utilizable, trabajo y energía. Sitio, operador y</a:t>
            </a:r>
          </a:p>
          <a:p xmlns:a="http://schemas.openxmlformats.org/drawingml/2006/main">
            <a:r>
              <a:t>línea base están pendientes. Así podremos decidir con datos si una función del</a:t>
            </a:r>
          </a:p>
          <a:p xmlns:a="http://schemas.openxmlformats.org/drawingml/2006/main">
            <a:r>
              <a:t>concepto merece crecer. No prometemos ahorro antes de obtener una cosecha comparable.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Trazabilidad: P4-PRESUPUESTO-CHIAPAS.md; protocolo exploratorio, sitio y operador pendientes</a:t>
            </a:r>
          </a:p>
          <a:p xmlns:a="http://schemas.openxmlformats.org/drawingml/2006/main">
            <a:r>
              <a:t>Revisión base P4-S3-2026-09-20; capturas S5. B15-B19 abiertos.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4:05–4:35 · Lámina 8 · Recursos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Separamos los costes de la maqueta Madrid, el piloto Chiapas y el concepto marciano.</a:t>
            </a:r>
          </a:p>
          <a:p xmlns:a="http://schemas.openxmlformats.org/drawingml/2006/main">
            <a:r>
              <a:t>Tenemos partidas y algunas referencias públicas; faltan cotizaciones y fabricación.</a:t>
            </a:r>
          </a:p>
          <a:p xmlns:a="http://schemas.openxmlformats.org/drawingml/2006/main">
            <a:r>
              <a:t>No usamos un subtotal como precio del proyecto ni un precio comercial como coste</a:t>
            </a:r>
          </a:p>
          <a:p xmlns:a="http://schemas.openxmlformats.org/drawingml/2006/main">
            <a:r>
              <a:t>de equipo espacial. El siguiente gasto debe responder a la incertidumbre que</a:t>
            </a:r>
          </a:p>
          <a:p xmlns:a="http://schemas.openxmlformats.org/drawingml/2006/main">
            <a:r>
              <a:t>queramos reducir, especialmente acceso, accionamiento y medición del agua.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Trazabilidad: P4 presupuesto S4; XLSX con fórmulas. No precio total ni cotización formal.</a:t>
            </a:r>
          </a:p>
          <a:p xmlns:a="http://schemas.openxmlformats.org/drawingml/2006/main">
            <a:r>
              <a:t>Revisión base P4-S3-2026-09-20; capturas S5. B15-B19 abiertos.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4:35–5:00 · Lámina 9 · Siguiente demostración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siguiente evidencia que necesitamos es una transferencia o acceso practicable,</a:t>
            </a:r>
          </a:p>
          <a:p xmlns:a="http://schemas.openxmlformats.org/drawingml/2006/main">
            <a:r>
              <a:t>un indexado medido y una prueba independiente de riego e aislamiento. MILPA-360</a:t>
            </a:r>
          </a:p>
          <a:p xmlns:a="http://schemas.openxmlformats.org/drawingml/2006/main">
            <a:r>
              <a:t>conserva la idea de conectar procesos mediante el movimiento del sustrato. Ahora</a:t>
            </a:r>
          </a:p>
          <a:p xmlns:a="http://schemas.openxmlformats.org/drawingml/2006/main">
            <a:r>
              <a:t>la acompañamos con límites, trazabilidad y ensayos que permitirán decidir si esa</a:t>
            </a:r>
          </a:p>
          <a:p xmlns:a="http://schemas.openxmlformats.org/drawingml/2006/main">
            <a:r>
              <a:t>complejidad aporta una ventaja real frente a una solución más simple.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Trazabilidad: P4 protocolos E1–E4; P5 §3/6; hipótesis, sin patente ni ensayos concluidos</a:t>
            </a:r>
          </a:p>
          <a:p xmlns:a="http://schemas.openxmlformats.org/drawingml/2006/main">
            <a:r>
              <a:t>Revisión base P4-S3-2026-09-20; capturas S5. B15-B19 abiertos.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a66617ec144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a3cf4923a841f0" /><Relationship Type="http://schemas.openxmlformats.org/officeDocument/2006/relationships/slideLayout" Target="/ppt/slideLayouts/slideLayout1.xml" Id="R6a9d52c3e84848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9d52c3e84848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8587bbdf743eb" /><Relationship Type="http://schemas.openxmlformats.org/officeDocument/2006/relationships/image" Target="/ppt/media/image.png" Id="Rbb9a344a050547f7" /><Relationship Type="http://schemas.openxmlformats.org/officeDocument/2006/relationships/notesSlide" Target="/ppt/notesSlides/notesSlide1.xml" Id="R80554ac81f3542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2d42f6eea44a0" /><Relationship Type="http://schemas.openxmlformats.org/officeDocument/2006/relationships/image" Target="/ppt/media/image2.png" Id="R265ce19605ef4124" /><Relationship Type="http://schemas.openxmlformats.org/officeDocument/2006/relationships/notesSlide" Target="/ppt/notesSlides/notesSlide2.xml" Id="Rd1e100baeecb47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26ec0718649fd" /><Relationship Type="http://schemas.openxmlformats.org/officeDocument/2006/relationships/image" Target="/ppt/media/image3.png" Id="Rda2e491caa80465e" /><Relationship Type="http://schemas.openxmlformats.org/officeDocument/2006/relationships/notesSlide" Target="/ppt/notesSlides/notesSlide3.xml" Id="Rc31cf70b5a4442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aba38c0894d1c" /><Relationship Type="http://schemas.openxmlformats.org/officeDocument/2006/relationships/image" Target="/ppt/media/image4.png" Id="Rf6966a8e21754732" /><Relationship Type="http://schemas.openxmlformats.org/officeDocument/2006/relationships/notesSlide" Target="/ppt/notesSlides/notesSlide4.xml" Id="R7adb9cd9331c46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34f4df69141ee" /><Relationship Type="http://schemas.openxmlformats.org/officeDocument/2006/relationships/notesSlide" Target="/ppt/notesSlides/notesSlide5.xml" Id="R608dce214fbb4c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3702c46c941c6" /><Relationship Type="http://schemas.openxmlformats.org/officeDocument/2006/relationships/image" Target="/ppt/media/image5.png" Id="R73149ed358a94367" /><Relationship Type="http://schemas.openxmlformats.org/officeDocument/2006/relationships/notesSlide" Target="/ppt/notesSlides/notesSlide6.xml" Id="R8fd055066f7c40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a389234ce4ee7" /><Relationship Type="http://schemas.openxmlformats.org/officeDocument/2006/relationships/notesSlide" Target="/ppt/notesSlides/notesSlide7.xml" Id="R7770c952cb9847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f109e112949cb" /><Relationship Type="http://schemas.openxmlformats.org/officeDocument/2006/relationships/notesSlide" Target="/ppt/notesSlides/notesSlide8.xml" Id="R4008810ca27c4d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e0b9ef6704465" /><Relationship Type="http://schemas.openxmlformats.org/officeDocument/2006/relationships/notesSlide" Target="/ppt/notesSlides/notesSlide9.xml" Id="R7cbc3cd114f340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9DB8D-B260-497A-9DBA-D32EF4B7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BIOMARS CHIAPAS / MADRID · S5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FD5C3-1A51-4B3B-9FB1-24485736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defRPr>
            </a:pPr>
            <a:r>
              <a: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rPr>
              <a:t>MILPA-360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171B4-A742-43E9-A3D0-06B7D72E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150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01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70A12-F34E-4A69-9876-90E6C476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275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Concepto y cálculo · sin validación física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4B59F-FD7B-4415-A19E-94A16EF6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8592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A8C98C"/>
                </a:solidFill>
                <a:latin typeface="Archivo"/>
                <a:ea typeface="Archivo"/>
                <a:cs typeface="Archivo"/>
              </a:defRPr>
            </a:pPr>
            <a:r>
              <a:rPr sz="2850">
                <a:solidFill>
                  <a:srgbClr val="A8C98C"/>
                </a:solidFill>
                <a:latin typeface="Archivo"/>
                <a:ea typeface="Archivo"/>
                <a:cs typeface="Archivo"/>
              </a:rPr>
              <a:t>Sustrato en movimiento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33160-2635-4464-BA92-24958EE6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025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Recuperación de sustrato</a:t>
            </a:r>
          </a:p>
          <a:p xmlns:a="http://schemas.openxmlformats.org/drawingml/2006/main">
            <a:pPr>
              <a:defRPr sz="2025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025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Residuos animales</a:t>
            </a:r>
          </a:p>
          <a:p xmlns:a="http://schemas.openxmlformats.org/drawingml/2006/main">
            <a:pPr>
              <a:defRPr sz="2025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025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Cultivo complementario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727A9-F2A9-401F-9DD7-5CE52F0E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575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Aldo Fabio Contreras Marroquín</a:t>
            </a:r>
          </a:p>
          <a:p xmlns:a="http://schemas.openxmlformats.org/drawingml/2006/main">
            <a:pPr>
              <a:defRPr sz="1575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575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Equipo BioMars Chiapas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9a344a050547f7"/>
          <a:stretch xmlns:a="http://schemas.openxmlformats.org/drawingml/2006/main"/>
        </p:blipFill>
        <p:spPr>
          <a:xfrm xmlns:a="http://schemas.openxmlformats.org/drawingml/2006/main">
            <a:off x="4476750" y="1750219"/>
            <a:ext cx="7239000" cy="407193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5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88E82-D721-402B-99A6-A367224F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BIOMARS CHIAPAS / MADRID · S5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0DCFA-C1C9-48EB-885E-1B4D5631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defRPr>
            </a:pPr>
            <a:r>
              <a: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rPr>
              <a:t>Procesos conectados y separados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7B570-D4AF-4913-A963-4AFE166E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150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02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152F5-80E7-4C8E-A9EE-9B889318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275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Concepto y cálculo · sin validación física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064D8-BC03-47F9-8FA0-6AFD1F61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02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A8C98C"/>
                </a:solidFill>
                <a:latin typeface="Archivo"/>
                <a:ea typeface="Archivo"/>
                <a:cs typeface="Archivo"/>
              </a:defRPr>
            </a:pPr>
            <a:r>
              <a:rPr sz="2550">
                <a:solidFill>
                  <a:srgbClr val="A8C98C"/>
                </a:solidFill>
                <a:latin typeface="Archivo"/>
                <a:ea typeface="Archivo"/>
                <a:cs typeface="Archivo"/>
              </a:rPr>
              <a:t>Animal → residuo → cultivo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5AA49-E4CF-47C7-9DC3-9315F491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5286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Salmuera: reactor separado</a:t>
            </a:r>
          </a:p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Digestato: retención y análisis</a:t>
            </a:r>
          </a:p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Liberación: autorización del lote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A2235-E9DC-4B70-9ABE-26880492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89D64"/>
                </a:solidFill>
                <a:latin typeface="Archivo"/>
                <a:ea typeface="Archivo"/>
                <a:cs typeface="Archivo"/>
              </a:defRPr>
            </a:pPr>
            <a:r>
              <a:rPr sz="1950">
                <a:solidFill>
                  <a:srgbClr val="E89D64"/>
                </a:solidFill>
                <a:latin typeface="Archivo"/>
                <a:ea typeface="Archivo"/>
                <a:cs typeface="Archivo"/>
              </a:rPr>
              <a:t>El requisito de 100%</a:t>
            </a:r>
          </a:p>
          <a:p xmlns:a="http://schemas.openxmlformats.org/drawingml/2006/main">
            <a:pPr>
              <a:defRPr sz="1950">
                <a:solidFill>
                  <a:srgbClr val="E89D64"/>
                </a:solidFill>
                <a:latin typeface="Archivo"/>
                <a:ea typeface="Archivo"/>
                <a:cs typeface="Archivo"/>
              </a:defRPr>
            </a:pPr>
            <a:r>
              <a:rPr sz="1950">
                <a:solidFill>
                  <a:srgbClr val="E89D64"/>
                </a:solidFill>
                <a:latin typeface="Archivo"/>
                <a:ea typeface="Archivo"/>
                <a:cs typeface="Archivo"/>
              </a:rPr>
              <a:t>sigue sin demostrarse.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ce19605ef4124"/>
          <a:stretch xmlns:a="http://schemas.openxmlformats.org/drawingml/2006/main"/>
        </p:blipFill>
        <p:spPr>
          <a:xfrm xmlns:a="http://schemas.openxmlformats.org/drawingml/2006/main">
            <a:off x="6238875" y="2521148"/>
            <a:ext cx="5429250" cy="305395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002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7C054-9952-4DDD-BB54-9BFE30FA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BIOMARS CHIAPAS / MADRID · S5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137C0-32B2-423B-9454-54B5105B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defRPr>
            </a:pPr>
            <a:r>
              <a: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rPr>
              <a:t>Veinte cartuchos, una trayectoria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475EE-E84A-4B74-8AF8-7B74D23E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150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03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635C9-14A0-4212-99CE-BD342B63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275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Concepto y cálculo · sin validación física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1A279-4FA5-46CD-AFE6-89E2D259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09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>
                <a:solidFill>
                  <a:srgbClr val="A8C98C"/>
                </a:solidFill>
                <a:latin typeface="Bodoni Moda"/>
                <a:ea typeface="Bodoni Moda"/>
                <a:cs typeface="Bodoni Moda"/>
              </a:defRPr>
            </a:pPr>
            <a:r>
              <a:rPr sz="6900">
                <a:solidFill>
                  <a:srgbClr val="A8C98C"/>
                </a:solidFill>
                <a:latin typeface="Bodoni Moda"/>
                <a:ea typeface="Bodoni Moda"/>
                <a:cs typeface="Bodoni Moda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1B020-6833-465F-96DD-F55B1128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4714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175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8 regeneración + 12 cultivo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D51C6-D002-40F1-AA0C-B5C5CA9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3.086 m² útiles de cultivo</a:t>
            </a:r>
          </a:p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Ø 4.56 m nominal</a:t>
            </a:r>
          </a:p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≈1.98 t de masa móvil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14880-8EE0-4709-9B49-702965D1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89D64"/>
                </a:solidFill>
                <a:latin typeface="Archivo"/>
                <a:ea typeface="Archivo"/>
                <a:cs typeface="Archivo"/>
              </a:defRPr>
            </a:pPr>
            <a:r>
              <a:rPr sz="1950">
                <a:solidFill>
                  <a:srgbClr val="E89D64"/>
                </a:solidFill>
                <a:latin typeface="Archivo"/>
                <a:ea typeface="Archivo"/>
                <a:cs typeface="Archivo"/>
              </a:rPr>
              <a:t>Entrada / evacuación pendiente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e491caa80465e"/>
          <a:stretch xmlns:a="http://schemas.openxmlformats.org/drawingml/2006/main"/>
        </p:blipFill>
        <p:spPr>
          <a:xfrm xmlns:a="http://schemas.openxmlformats.org/drawingml/2006/main">
            <a:off x="6191250" y="2312491"/>
            <a:ext cx="5476875" cy="308074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947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28FE8-1992-4652-B3B1-9175713F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BIOMARS CHIAPAS / MADRID · S5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46881-648C-4FA8-8E8E-2FEB2CC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defRPr>
            </a:pPr>
            <a:r>
              <a: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rPr>
              <a:t>Cada lote conserva su historia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7CE99-EA67-4B13-AAD4-EB64332A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150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04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1F70E-A433-4273-A0E5-E1893B2C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275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Concepto y cálculo · sin validación física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FC412-53A0-44E0-A59B-513B57D2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811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A8C98C"/>
                </a:solidFill>
                <a:latin typeface="Archivo"/>
                <a:ea typeface="Archivo"/>
                <a:cs typeface="Archivo"/>
              </a:defRPr>
            </a:pPr>
            <a:r>
              <a:rPr sz="2625">
                <a:solidFill>
                  <a:srgbClr val="A8C98C"/>
                </a:solidFill>
                <a:latin typeface="Archivo"/>
                <a:ea typeface="Archivo"/>
                <a:cs typeface="Archivo"/>
              </a:rPr>
              <a:t>Tratamiento → muestra → decisión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5A27D-9C4A-462C-8AF2-847D4B7C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552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Sin análisis: retención</a:t>
            </a:r>
          </a:p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Fallo: daño persistente</a:t>
            </a:r>
          </a:p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Reemplazo: recursos limitados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7D499-B50E-443F-B5EE-406E4C7D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89D64"/>
                </a:solidFill>
                <a:latin typeface="Archivo"/>
                <a:ea typeface="Archivo"/>
                <a:cs typeface="Archivo"/>
              </a:defRPr>
            </a:pPr>
            <a:r>
              <a:rPr sz="1800">
                <a:solidFill>
                  <a:srgbClr val="E89D64"/>
                </a:solidFill>
                <a:latin typeface="Archivo"/>
                <a:ea typeface="Archivo"/>
                <a:cs typeface="Archivo"/>
              </a:rPr>
              <a:t>Respuesta biológica ilustrativa.</a:t>
            </a:r>
          </a:p>
          <a:p xmlns:a="http://schemas.openxmlformats.org/drawingml/2006/main">
            <a:pPr>
              <a:defRPr sz="1800">
                <a:solidFill>
                  <a:srgbClr val="E89D64"/>
                </a:solidFill>
                <a:latin typeface="Archivo"/>
                <a:ea typeface="Archivo"/>
                <a:cs typeface="Archivo"/>
              </a:defRPr>
            </a:pPr>
            <a:r>
              <a:rPr sz="1800">
                <a:solidFill>
                  <a:srgbClr val="E89D64"/>
                </a:solidFill>
                <a:latin typeface="Archivo"/>
                <a:ea typeface="Archivo"/>
                <a:cs typeface="Archivo"/>
              </a:rPr>
              <a:t>El control no es un análisis químico.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66a8e21754732"/>
          <a:stretch xmlns:a="http://schemas.openxmlformats.org/drawingml/2006/main"/>
        </p:blipFill>
        <p:spPr>
          <a:xfrm xmlns:a="http://schemas.openxmlformats.org/drawingml/2006/main">
            <a:off x="6334125" y="2619375"/>
            <a:ext cx="5334000" cy="300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67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B7FA1-5B2D-41D4-9CC8-FDD9E196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BIOMARS CHIAPAS / MADRID · S5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349F3-6305-4647-A3CF-2C4BF0E0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defRPr>
            </a:pPr>
            <a:r>
              <a: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rPr>
              <a:t>Alimento complementario, energía externa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9DCB7-EE4B-4360-9CC9-ACA762BD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150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05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47F00-A68E-40F4-B1F6-7824A5D9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275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Concepto y cálculo · sin validación física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B8B73-ED3F-43DE-BF3E-B4FDFEE5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3905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100">
                <a:solidFill>
                  <a:srgbClr val="A8C98C"/>
                </a:solidFill>
                <a:latin typeface="Bodoni Moda"/>
                <a:ea typeface="Bodoni Moda"/>
                <a:cs typeface="Bodoni Moda"/>
              </a:defRPr>
            </a:pPr>
            <a:r>
              <a:rPr sz="8100">
                <a:solidFill>
                  <a:srgbClr val="A8C98C"/>
                </a:solidFill>
                <a:latin typeface="Bodoni Moda"/>
                <a:ea typeface="Bodoni Moda"/>
                <a:cs typeface="Bodoni Moda"/>
              </a:rPr>
              <a:t>2.46%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5CE7E-8D91-4A9E-A5A0-43A79359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de las kcal de seis personas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A18AD-BC0E-49AB-8ACF-2B2335C1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9572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19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447 kcal/d entre huevo y vegetales</a:t>
            </a:r>
          </a:p>
          <a:p xmlns:a="http://schemas.openxmlformats.org/drawingml/2006/main">
            <a:pPr>
              <a:defRPr sz="19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19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0.7704 kg/d de ración animal importada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832F76-3147-4479-A632-F0E496E3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9526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5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10.48 kWh eléctricos/d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8C959-A307-48B7-B23F-154051CB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670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950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Sólo iluminación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7AB30-1411-40C9-9FC9-614E98BD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7052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E89D64"/>
                </a:solidFill>
                <a:latin typeface="Archivo"/>
                <a:ea typeface="Archivo"/>
                <a:cs typeface="Archivo"/>
              </a:defRPr>
            </a:pPr>
            <a:r>
              <a:rPr sz="2550">
                <a:solidFill>
                  <a:srgbClr val="E89D64"/>
                </a:solidFill>
                <a:latin typeface="Archivo"/>
                <a:ea typeface="Archivo"/>
                <a:cs typeface="Archivo"/>
              </a:rPr>
              <a:t>0.199 kWh químicos/d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ECF59-C5CB-485D-81BC-247EE490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4386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950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Biogás antes de conversión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01D8B-6A28-4B84-93EC-1F1E9A5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340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89D64"/>
                </a:solidFill>
                <a:latin typeface="Archivo"/>
                <a:ea typeface="Archivo"/>
                <a:cs typeface="Archivo"/>
              </a:defRPr>
            </a:pPr>
            <a:r>
              <a:rPr sz="1800">
                <a:solidFill>
                  <a:srgbClr val="E89D64"/>
                </a:solidFill>
                <a:latin typeface="Archivo"/>
                <a:ea typeface="Archivo"/>
                <a:cs typeface="Archivo"/>
              </a:rPr>
              <a:t>Régimen supuesto; arranque, fallos, auxiliares y térmica por cerrar.</a:t>
            </a:r>
          </a:p>
        </p:txBody>
      </p:sp>
    </p:spTree>
    <p:extLst>
      <p:ext uri="{BB962C8B-B14F-4D97-AF65-F5344CB8AC3E}">
        <p14:creationId xmlns:p14="http://schemas.microsoft.com/office/powerpoint/2010/main" val="1708854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1EA50-E913-4BF0-AF24-A305235B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BIOMARS CHIAPAS / MADRID · S5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C6822-DDAC-4CF1-A874-A4CE0C21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defRPr>
            </a:pPr>
            <a:r>
              <a: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rPr>
              <a:t>Evidencia disponible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89A14-89EE-40CF-8463-894FAB3E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150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06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93D38-E68C-4CB6-B19E-FBE1FD2E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275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Concepto y cálculo · sin validación física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737F9-84AE-44D2-99DC-79453ABF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>
                <a:solidFill>
                  <a:srgbClr val="A8C98C"/>
                </a:solidFill>
                <a:latin typeface="Archivo"/>
                <a:ea typeface="Archivo"/>
                <a:cs typeface="Archivo"/>
              </a:defRPr>
            </a:pPr>
            <a:r>
              <a:rPr sz="2475">
                <a:solidFill>
                  <a:srgbClr val="A8C98C"/>
                </a:solidFill>
                <a:latin typeface="Archivo"/>
                <a:ea typeface="Archivo"/>
                <a:cs typeface="Archivo"/>
              </a:rPr>
              <a:t>Verificado digitalmente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F5F61-FA02-44EF-B3A3-796CB9C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57475"/>
            <a:ext cx="523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Cálculos y geometría</a:t>
            </a:r>
          </a:p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Estado reproducible</a:t>
            </a:r>
          </a:p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Demo sin Internet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83016-520F-45EB-BB35-B15FFDB7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552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89D64"/>
                </a:solidFill>
                <a:latin typeface="Archivo"/>
                <a:ea typeface="Archivo"/>
                <a:cs typeface="Archivo"/>
              </a:defRPr>
            </a:pPr>
            <a:r>
              <a:rPr sz="2025">
                <a:solidFill>
                  <a:srgbClr val="E89D64"/>
                </a:solidFill>
                <a:latin typeface="Archivo"/>
                <a:ea typeface="Archivo"/>
                <a:cs typeface="Archivo"/>
              </a:rPr>
              <a:t>Pendiente: carga real, acceso,</a:t>
            </a:r>
          </a:p>
          <a:p xmlns:a="http://schemas.openxmlformats.org/drawingml/2006/main">
            <a:pPr>
              <a:defRPr sz="2025">
                <a:solidFill>
                  <a:srgbClr val="E89D64"/>
                </a:solidFill>
                <a:latin typeface="Archivo"/>
                <a:ea typeface="Archivo"/>
                <a:cs typeface="Archivo"/>
              </a:defRPr>
            </a:pPr>
            <a:r>
              <a:rPr sz="2025">
                <a:solidFill>
                  <a:srgbClr val="E89D64"/>
                </a:solidFill>
                <a:latin typeface="Archivo"/>
                <a:ea typeface="Archivo"/>
                <a:cs typeface="Archivo"/>
              </a:rPr>
              <a:t>agua medida e inocuidad.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49ed358a94367"/>
          <a:stretch xmlns:a="http://schemas.openxmlformats.org/drawingml/2006/main"/>
        </p:blipFill>
        <p:spPr>
          <a:xfrm xmlns:a="http://schemas.openxmlformats.org/drawingml/2006/main">
            <a:off x="6381750" y="1884759"/>
            <a:ext cx="5286375" cy="39647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95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7A2F8-A88E-4E72-B07F-943C7746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BIOMARS CHIAPAS / MADRID · S5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A5096-E63A-42E5-91E7-02AA0700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defRPr>
            </a:pPr>
            <a:r>
              <a: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rPr>
              <a:t>Un piloto acotado en Tuxtla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E9D78-3A98-4AE2-BD03-4085E31D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150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07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7884F-2150-4621-A745-782FB633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275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Concepto y cálculo · sin validación física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BFC1F-29A1-4357-A21D-1A4B90CB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A8C98C"/>
                </a:solidFill>
                <a:latin typeface="Archivo"/>
                <a:ea typeface="Archivo"/>
                <a:cs typeface="Archivo"/>
              </a:defRPr>
            </a:pPr>
            <a:r>
              <a:rPr sz="3150">
                <a:solidFill>
                  <a:srgbClr val="A8C98C"/>
                </a:solidFill>
                <a:latin typeface="Archivo"/>
                <a:ea typeface="Archivo"/>
                <a:cs typeface="Archivo"/>
              </a:rPr>
              <a:t>6 recipientes / 3 pares independientes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7580C-E228-4A70-8EFC-22A2909D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8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Riego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10E69-3873-46DD-A8FF-3188D6BC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05125"/>
            <a:ext cx="523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8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Goteo + aislamiento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A4066-A0A3-48E4-8F41-82756D86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004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2175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Misma especie, sustrato y condiciones comparables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9B7F0-9CAE-4060-BE16-0E4E3095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005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325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Medir agua nueva/kg utilizable, tiempo y energía.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E76D3-A09D-45AF-80FE-8DD1BCC5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530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E89D64"/>
                </a:solidFill>
                <a:latin typeface="Archivo"/>
                <a:ea typeface="Archivo"/>
                <a:cs typeface="Archivo"/>
              </a:defRPr>
            </a:pPr>
            <a:r>
              <a:rPr sz="1950">
                <a:solidFill>
                  <a:srgbClr val="E89D64"/>
                </a:solidFill>
                <a:latin typeface="Archivo"/>
                <a:ea typeface="Archivo"/>
                <a:cs typeface="Archivo"/>
              </a:rPr>
              <a:t>Sitio, operador, línea base y resultados pendientes.</a:t>
            </a:r>
          </a:p>
        </p:txBody>
      </p:sp>
    </p:spTree>
    <p:extLst>
      <p:ext uri="{BB962C8B-B14F-4D97-AF65-F5344CB8AC3E}">
        <p14:creationId xmlns:p14="http://schemas.microsoft.com/office/powerpoint/2010/main" val="1796038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5E3E7-7C8B-45D4-AE7C-1DB269E6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BIOMARS CHIAPAS / MADRID · S5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3379E-8117-46C3-B744-B774DC50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defRPr>
            </a:pPr>
            <a:r>
              <a: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rPr>
              <a:t>Costes separados por alcance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B11C7-D6AF-45B9-8F2A-E00AFB85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150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08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A111E-B6F6-4E5E-BE8D-60E0565F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275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Concepto y cálculo · sin validación física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533400" y="1905000"/>
          <a:ext xmlns:a="http://schemas.openxmlformats.org/drawingml/2006/main" cx="111252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905250"/>
                <a:gridCol w="3838575"/>
              </a:tblGrid>
              <a:tr h="75009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A8C98C"/>
                          </a:solidFill>
                          <a:latin typeface="Archivo"/>
                          <a:ea typeface="Archivo"/>
                          <a:cs typeface="Archivo"/>
                        </a:rPr>
                        <a:t>Alcance</a:t>
                      </a:r>
                    </a:p>
                  </a:txBody>
                  <a:tcPr marL="91440" marR="91440" marT="45720" marB="45720">
                    <a:solidFill>
                      <a:srgbClr val="234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A8C98C"/>
                          </a:solidFill>
                          <a:latin typeface="Archivo"/>
                          <a:ea typeface="Archivo"/>
                          <a:cs typeface="Archivo"/>
                        </a:rPr>
                        <a:t>Disponibilidad</a:t>
                      </a:r>
                    </a:p>
                  </a:txBody>
                  <a:tcPr marL="91440" marR="91440" marT="45720" marB="45720">
                    <a:solidFill>
                      <a:srgbClr val="234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A8C98C"/>
                          </a:solidFill>
                          <a:latin typeface="Archivo"/>
                          <a:ea typeface="Archivo"/>
                          <a:cs typeface="Archivo"/>
                        </a:rPr>
                        <a:t>Brecha</a:t>
                      </a:r>
                    </a:p>
                  </a:txBody>
                  <a:tcPr marL="91440" marR="91440" marT="45720" marB="45720">
                    <a:solidFill>
                      <a:srgbClr val="23404A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DF0E9"/>
                          </a:solidFill>
                          <a:latin typeface="Archivo"/>
                          <a:ea typeface="Archivo"/>
                          <a:cs typeface="Archivo"/>
                        </a:rPr>
                        <a:t>Maqueta Madrid</a:t>
                      </a:r>
                    </a:p>
                  </a:txBody>
                  <a:tcPr marL="91440" marR="91440" marT="45720" marB="45720">
                    <a:solidFill>
                      <a:srgbClr val="0B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DF0E9"/>
                          </a:solidFill>
                          <a:latin typeface="Archivo"/>
                          <a:ea typeface="Archivo"/>
                          <a:cs typeface="Archivo"/>
                        </a:rPr>
                        <a:t>19 partidas preliminares</a:t>
                      </a:r>
                    </a:p>
                  </a:txBody>
                  <a:tcPr marL="91440" marR="91440" marT="45720" marB="45720">
                    <a:solidFill>
                      <a:srgbClr val="0B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DF0E9"/>
                          </a:solidFill>
                          <a:latin typeface="Archivo"/>
                          <a:ea typeface="Archivo"/>
                          <a:cs typeface="Archivo"/>
                        </a:rPr>
                        <a:t>Fabricación y recursos</a:t>
                      </a:r>
                    </a:p>
                  </a:txBody>
                  <a:tcPr marL="91440" marR="91440" marT="45720" marB="45720">
                    <a:solidFill>
                      <a:srgbClr val="0B171D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DF0E9"/>
                          </a:solidFill>
                          <a:latin typeface="Archivo"/>
                          <a:ea typeface="Archivo"/>
                          <a:cs typeface="Archivo"/>
                        </a:rPr>
                        <a:t>Piloto Chiapas</a:t>
                      </a:r>
                    </a:p>
                  </a:txBody>
                  <a:tcPr marL="91440" marR="91440" marT="45720" marB="45720">
                    <a:solidFill>
                      <a:srgbClr val="0B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DF0E9"/>
                          </a:solidFill>
                          <a:latin typeface="Archivo"/>
                          <a:ea typeface="Archivo"/>
                          <a:cs typeface="Archivo"/>
                        </a:rPr>
                        <a:t>20 partidas preliminares</a:t>
                      </a:r>
                    </a:p>
                  </a:txBody>
                  <a:tcPr marL="91440" marR="91440" marT="45720" marB="45720">
                    <a:solidFill>
                      <a:srgbClr val="0B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DF0E9"/>
                          </a:solidFill>
                          <a:latin typeface="Archivo"/>
                          <a:ea typeface="Archivo"/>
                          <a:cs typeface="Archivo"/>
                        </a:rPr>
                        <a:t>Sitio, análisis y operación</a:t>
                      </a:r>
                    </a:p>
                  </a:txBody>
                  <a:tcPr marL="91440" marR="91440" marT="45720" marB="45720">
                    <a:solidFill>
                      <a:srgbClr val="0B171D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DF0E9"/>
                          </a:solidFill>
                          <a:latin typeface="Archivo"/>
                          <a:ea typeface="Archivo"/>
                          <a:cs typeface="Archivo"/>
                        </a:rPr>
                        <a:t>Concepto marciano</a:t>
                      </a:r>
                    </a:p>
                  </a:txBody>
                  <a:tcPr marL="91440" marR="91440" marT="45720" marB="45720">
                    <a:solidFill>
                      <a:srgbClr val="0B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DF0E9"/>
                          </a:solidFill>
                          <a:latin typeface="Archivo"/>
                          <a:ea typeface="Archivo"/>
                          <a:cs typeface="Archivo"/>
                        </a:rPr>
                        <a:t>Recursos dimensionales</a:t>
                      </a:r>
                    </a:p>
                  </a:txBody>
                  <a:tcPr marL="91440" marR="91440" marT="45720" marB="45720">
                    <a:solidFill>
                      <a:srgbClr val="0B17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DF0E9"/>
                          </a:solidFill>
                          <a:latin typeface="Archivo"/>
                          <a:ea typeface="Archivo"/>
                          <a:cs typeface="Archivo"/>
                        </a:rPr>
                        <a:t>Integración y ciclo de vida</a:t>
                      </a:r>
                    </a:p>
                  </a:txBody>
                  <a:tcPr marL="91440" marR="91440" marT="45720" marB="45720">
                    <a:solidFill>
                      <a:srgbClr val="0B171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466EA-C96C-4AEC-A395-7FE7E2E0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E89D64"/>
                </a:solidFill>
                <a:latin typeface="Archivo"/>
                <a:ea typeface="Archivo"/>
                <a:cs typeface="Archivo"/>
              </a:defRPr>
            </a:pPr>
            <a:r>
              <a:rPr sz="2100">
                <a:solidFill>
                  <a:srgbClr val="E89D64"/>
                </a:solidFill>
                <a:latin typeface="Archivo"/>
                <a:ea typeface="Archivo"/>
                <a:cs typeface="Archivo"/>
              </a:rPr>
              <a:t>Precios públicos parciales. Total de compra pendiente.</a:t>
            </a:r>
          </a:p>
        </p:txBody>
      </p:sp>
    </p:spTree>
    <p:extLst>
      <p:ext uri="{BB962C8B-B14F-4D97-AF65-F5344CB8AC3E}">
        <p14:creationId xmlns:p14="http://schemas.microsoft.com/office/powerpoint/2010/main" val="44043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7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78D14-8561-4217-B817-9F07F96E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00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BIOMARS CHIAPAS / MADRID · S5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B5F39-48EC-4431-86A6-B4442DE8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48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defRPr>
            </a:pPr>
            <a:r>
              <a:rPr sz="4050">
                <a:solidFill>
                  <a:srgbClr val="EDF0E9"/>
                </a:solidFill>
                <a:latin typeface="Bodoni Moda"/>
                <a:ea typeface="Bodoni Moda"/>
                <a:cs typeface="Bodoni Moda"/>
              </a:rPr>
              <a:t>La siguiente demostración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89AE0-DA0F-411D-A824-E6836FDE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15075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defRPr>
            </a:pPr>
            <a:r>
              <a:rPr sz="1275">
                <a:solidFill>
                  <a:srgbClr val="A7BDC3"/>
                </a:solidFill>
                <a:latin typeface="IBM Plex Mono"/>
                <a:ea typeface="IBM Plex Mono"/>
                <a:cs typeface="IBM Plex Mono"/>
              </a:rPr>
              <a:t>09 /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4C739-4C0D-44F4-B5CC-750F54CD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1507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7BDC3"/>
                </a:solidFill>
                <a:latin typeface="Archivo"/>
                <a:ea typeface="Archivo"/>
                <a:cs typeface="Archivo"/>
              </a:defRPr>
            </a:pPr>
            <a:r>
              <a:rPr sz="1275">
                <a:solidFill>
                  <a:srgbClr val="A7BDC3"/>
                </a:solidFill>
                <a:latin typeface="Archivo"/>
                <a:ea typeface="Archivo"/>
                <a:cs typeface="Archivo"/>
              </a:rPr>
              <a:t>Concepto y cálculo · sin validación física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48104-7B77-4E01-8A0B-BF2F2013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9775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A8C98C"/>
                </a:solidFill>
                <a:latin typeface="Archivo"/>
                <a:ea typeface="Archivo"/>
                <a:cs typeface="Archivo"/>
              </a:defRPr>
            </a:pPr>
            <a:r>
              <a:rPr sz="2850">
                <a:solidFill>
                  <a:srgbClr val="A8C98C"/>
                </a:solidFill>
                <a:latin typeface="Archivo"/>
                <a:ea typeface="Archivo"/>
                <a:cs typeface="Archivo"/>
              </a:rPr>
              <a:t>Acceso y extracción practicables</a:t>
            </a:r>
          </a:p>
          <a:p xmlns:a="http://schemas.openxmlformats.org/drawingml/2006/main">
            <a:pPr>
              <a:defRPr sz="2850">
                <a:solidFill>
                  <a:srgbClr val="A8C98C"/>
                </a:solidFill>
                <a:latin typeface="Archivo"/>
                <a:ea typeface="Archivo"/>
                <a:cs typeface="Archivo"/>
              </a:defRPr>
            </a:pPr>
            <a:r>
              <a:rPr sz="2850">
                <a:solidFill>
                  <a:srgbClr val="A8C98C"/>
                </a:solidFill>
                <a:latin typeface="Archivo"/>
                <a:ea typeface="Archivo"/>
                <a:cs typeface="Archivo"/>
              </a:rPr>
              <a:t>Indexado con carga medida</a:t>
            </a:r>
          </a:p>
          <a:p xmlns:a="http://schemas.openxmlformats.org/drawingml/2006/main">
            <a:pPr>
              <a:defRPr sz="2850">
                <a:solidFill>
                  <a:srgbClr val="A8C98C"/>
                </a:solidFill>
                <a:latin typeface="Archivo"/>
                <a:ea typeface="Archivo"/>
                <a:cs typeface="Archivo"/>
              </a:defRPr>
            </a:pPr>
            <a:r>
              <a:rPr sz="2850">
                <a:solidFill>
                  <a:srgbClr val="A8C98C"/>
                </a:solidFill>
                <a:latin typeface="Archivo"/>
                <a:ea typeface="Archivo"/>
                <a:cs typeface="Archivo"/>
              </a:rPr>
              <a:t>Riego e aislamiento verificables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734BC-24DB-4F73-A3DA-16966CCD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10858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Comparar el carrusel con una solución más simple.</a:t>
            </a:r>
          </a:p>
          <a:p xmlns:a="http://schemas.openxmlformats.org/drawingml/2006/main">
            <a:pPr>
              <a:defRPr sz="2250">
                <a:solidFill>
                  <a:srgbClr val="EDF0E9"/>
                </a:solidFill>
                <a:latin typeface="Archivo"/>
                <a:ea typeface="Archivo"/>
                <a:cs typeface="Archivo"/>
              </a:defRPr>
            </a:pPr>
            <a:r>
              <a:rPr sz="2250">
                <a:solidFill>
                  <a:srgbClr val="EDF0E9"/>
                </a:solidFill>
                <a:latin typeface="Archivo"/>
                <a:ea typeface="Archivo"/>
                <a:cs typeface="Archivo"/>
              </a:rPr>
              <a:t>Decidir con mediciones y conservar los límites visibles.</a:t>
            </a:r>
          </a:p>
        </p:txBody>
      </p:sp>
    </p:spTree>
    <p:extLst>
      <p:ext uri="{BB962C8B-B14F-4D97-AF65-F5344CB8AC3E}">
        <p14:creationId xmlns:p14="http://schemas.microsoft.com/office/powerpoint/2010/main" val="13249250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2026-09-21T05:46:38.4220000Z</dcterms:created>
  <dcterms:modified xsi:type="dcterms:W3CDTF">2026-09-21T05:46:38.4220000Z</dcterms:modified>
</coreProperties>
</file>