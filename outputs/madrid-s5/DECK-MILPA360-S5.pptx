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84ec30145d4687" /><Relationship Type="http://schemas.openxmlformats.org/officeDocument/2006/relationships/extended-properties" Target="/docProps/app.xml" Id="R07bb37a77c674ad1" /><Relationship Type="http://schemas.openxmlformats.org/officeDocument/2006/relationships/officeDocument" Target="/ppt/presentation.xml" Id="R4a82349240084b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3b8d1ef2414083"/>
  </p:sldMasterIdLst>
  <p:notesMasterIdLst>
    <p:notesMasterId xmlns:r="http://schemas.openxmlformats.org/officeDocument/2006/relationships" r:id="Ra630ef6e37104621"/>
  </p:notesMasterIdLst>
  <p:sldIdLst>
    <p:sldId xmlns:r="http://schemas.openxmlformats.org/officeDocument/2006/relationships" id="256" r:id="Rafc071efed264b50"/>
    <p:sldId xmlns:r="http://schemas.openxmlformats.org/officeDocument/2006/relationships" id="257" r:id="Rd4fca5f7b5984cf5"/>
    <p:sldId xmlns:r="http://schemas.openxmlformats.org/officeDocument/2006/relationships" id="258" r:id="Rb7f4d9d68277499a"/>
    <p:sldId xmlns:r="http://schemas.openxmlformats.org/officeDocument/2006/relationships" id="259" r:id="R4eee007879ac4c2d"/>
    <p:sldId xmlns:r="http://schemas.openxmlformats.org/officeDocument/2006/relationships" id="260" r:id="R22cd2fccb9204882"/>
    <p:sldId xmlns:r="http://schemas.openxmlformats.org/officeDocument/2006/relationships" id="261" r:id="Rff5e932dfcff4a97"/>
    <p:sldId xmlns:r="http://schemas.openxmlformats.org/officeDocument/2006/relationships" id="262" r:id="R6104ba33834e422d"/>
    <p:sldId xmlns:r="http://schemas.openxmlformats.org/officeDocument/2006/relationships" id="263" r:id="Re8cf257c538546fc"/>
    <p:sldId xmlns:r="http://schemas.openxmlformats.org/officeDocument/2006/relationships" id="264" r:id="R2203562b91ea4d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ee3bb8f9ef4950" /><Relationship Type="http://schemas.openxmlformats.org/officeDocument/2006/relationships/slideMaster" Target="/ppt/slideMasters/slideMaster1.xml" Id="Rde3b8d1ef2414083" /><Relationship Type="http://schemas.openxmlformats.org/officeDocument/2006/relationships/notesMaster" Target="/ppt/notesMasters/notesMaster1.xml" Id="Ra630ef6e37104621" /><Relationship Type="http://schemas.openxmlformats.org/officeDocument/2006/relationships/presProps" Target="/ppt/presProps.xml" Id="R3eba92709a0e45d9" /><Relationship Type="http://schemas.openxmlformats.org/officeDocument/2006/relationships/tableStyles" Target="/ppt/tableStyles.xml" Id="R6e78189cd8c04bd6" /><Relationship Type="http://schemas.openxmlformats.org/officeDocument/2006/relationships/slide" Target="/ppt/slides/slide1.xml" Id="Rafc071efed264b50" /><Relationship Type="http://schemas.openxmlformats.org/officeDocument/2006/relationships/slide" Target="/ppt/slides/slide2.xml" Id="Rd4fca5f7b5984cf5" /><Relationship Type="http://schemas.openxmlformats.org/officeDocument/2006/relationships/slide" Target="/ppt/slides/slide3.xml" Id="Rb7f4d9d68277499a" /><Relationship Type="http://schemas.openxmlformats.org/officeDocument/2006/relationships/slide" Target="/ppt/slides/slide4.xml" Id="R4eee007879ac4c2d" /><Relationship Type="http://schemas.openxmlformats.org/officeDocument/2006/relationships/slide" Target="/ppt/slides/slide5.xml" Id="R22cd2fccb9204882" /><Relationship Type="http://schemas.openxmlformats.org/officeDocument/2006/relationships/slide" Target="/ppt/slides/slide6.xml" Id="Rff5e932dfcff4a97" /><Relationship Type="http://schemas.openxmlformats.org/officeDocument/2006/relationships/slide" Target="/ppt/slides/slide7.xml" Id="R6104ba33834e422d" /><Relationship Type="http://schemas.openxmlformats.org/officeDocument/2006/relationships/slide" Target="/ppt/slides/slide8.xml" Id="Re8cf257c538546fc" /><Relationship Type="http://schemas.openxmlformats.org/officeDocument/2006/relationships/slide" Target="/ppt/slides/slide9.xml" Id="R2203562b91ea4d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08e7f74d854b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7f3d2e607c4d13" /><Relationship Type="http://schemas.openxmlformats.org/officeDocument/2006/relationships/notesMaster" Target="/ppt/notesMasters/notesMaster1.xml" Id="R49f59bcc08374d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df981e8a824b14" /><Relationship Type="http://schemas.openxmlformats.org/officeDocument/2006/relationships/notesMaster" Target="/ppt/notesMasters/notesMaster1.xml" Id="Rfd3fc68c1dc94f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6398c7d53f46ba" /><Relationship Type="http://schemas.openxmlformats.org/officeDocument/2006/relationships/notesMaster" Target="/ppt/notesMasters/notesMaster1.xml" Id="Ra3e3a827544b4a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04ae08bff743f7" /><Relationship Type="http://schemas.openxmlformats.org/officeDocument/2006/relationships/notesMaster" Target="/ppt/notesMasters/notesMaster1.xml" Id="Rfb084833387343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c578bfaa8f4513" /><Relationship Type="http://schemas.openxmlformats.org/officeDocument/2006/relationships/notesMaster" Target="/ppt/notesMasters/notesMaster1.xml" Id="R18f80b40e61749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b8897e56c14941" /><Relationship Type="http://schemas.openxmlformats.org/officeDocument/2006/relationships/notesMaster" Target="/ppt/notesMasters/notesMaster1.xml" Id="R6e254d315d5049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aef1d44c9e45f6" /><Relationship Type="http://schemas.openxmlformats.org/officeDocument/2006/relationships/notesMaster" Target="/ppt/notesMasters/notesMaster1.xml" Id="Rb80456c79dd04e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9a91b08dd34d4d" /><Relationship Type="http://schemas.openxmlformats.org/officeDocument/2006/relationships/notesMaster" Target="/ppt/notesMasters/notesMaster1.xml" Id="Ra05895dc2a8b4a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c87ef86cad48d2" /><Relationship Type="http://schemas.openxmlformats.org/officeDocument/2006/relationships/notesMaster" Target="/ppt/notesMasters/notesMaster1.xml" Id="R49663f6c3a4346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0:00–0:30 · Lámina 1 · La propuesta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Somos BioMars Chiapas. MILPA-360 es una propuesta para conectar recuperación de</a:t>
            </a:r>
          </a:p>
          <a:p xmlns:a="http://schemas.openxmlformats.org/drawingml/2006/main">
            <a:r>
              <a:t>sustrato, aprovechamiento de residuos animales y cultivo. Presentamos un concepto</a:t>
            </a:r>
          </a:p>
          <a:p xmlns:a="http://schemas.openxmlformats.org/drawingml/2006/main">
            <a:r>
              <a:t>de ingeniería y su demostrador digital. Nuestro objetivo hoy es explicar cómo</a:t>
            </a:r>
          </a:p>
          <a:p xmlns:a="http://schemas.openxmlformats.org/drawingml/2006/main">
            <a:r>
              <a:t>funciona, cuánto puede aportar y qué falta demostrar antes de construir un piloto.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P5-DEFENSA.md §1; captura hero, escena nominal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0:30–1:00 · Lámina 2 · Las tres funciones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 lote de sustrato recibe un tratamiento, pasa por estaciones y llega a cultivo</a:t>
            </a:r>
          </a:p>
          <a:p xmlns:a="http://schemas.openxmlformats.org/drawingml/2006/main">
            <a:r>
              <a:t>sólo después de control de calidad. Los residuos se asignan a rutas concretas:</a:t>
            </a:r>
          </a:p>
          <a:p xmlns:a="http://schemas.openxmlformats.org/drawingml/2006/main">
            <a:r>
              <a:t>larvario, digestión y retención. La salmuera permanece en un reactor separado.</a:t>
            </a:r>
          </a:p>
          <a:p xmlns:a="http://schemas.openxmlformats.org/drawingml/2006/main">
            <a:r>
              <a:t>Este esquema conserva las tres partes del reto; todavía no demuestra recuperación</a:t>
            </a:r>
          </a:p>
          <a:p xmlns:a="http://schemas.openxmlformats.org/drawingml/2006/main">
            <a:r>
              <a:t>del cien por ciento ni seguridad sanitaria. Son requisitos que mantenemos abiertos.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Matriz RU, P1 D3–D5, P5 §2/4; P05-procesos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1:00–1:40 · Lámina 3 · Mecanismo y escala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Ahora usamos veinte cartuchos idénticos en un solo anillo. El mismo recipiente</a:t>
            </a:r>
          </a:p>
          <a:p xmlns:a="http://schemas.openxmlformats.org/drawingml/2006/main">
            <a:r>
              <a:t>cambia de etapa: evitamos transferencias imaginarias entre bandejas distintas.</a:t>
            </a:r>
          </a:p>
          <a:p xmlns:a="http://schemas.openxmlformats.org/drawingml/2006/main">
            <a:r>
              <a:t>La configuración tiene 3.086 metros cuadrados útiles de cultivo y un diámetro</a:t>
            </a:r>
          </a:p>
          <a:p xmlns:a="http://schemas.openxmlformats.org/drawingml/2006/main">
            <a:r>
              <a:t>nominal de 4.56 metros. La masa móvil estimada es casi dos toneladas. La figura</a:t>
            </a:r>
          </a:p>
          <a:p xmlns:a="http://schemas.openxmlformats.org/drawingml/2006/main">
            <a:r>
              <a:t>humana da escala, pero el anillo aún corta la entrada. Estudiamos un sector de</a:t>
            </a:r>
          </a:p>
          <a:p xmlns:a="http://schemas.openxmlformats.org/drawingml/2006/main">
            <a:r>
              <a:t>servicio desmontable; no presentamos el acceso ni la resistencia como resueltos.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parameters.json; milpa360_p2.py; milpa360_p4.py; P5 §3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1:40–2:15 · Lámina 4 · Control por lote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lote conserva historial. Sin análisis aceptable permanece retenido. Si se</a:t>
            </a:r>
          </a:p>
          <a:p xmlns:a="http://schemas.openxmlformats.org/drawingml/2006/main">
            <a:r>
              <a:t>rechaza, el modelo permite aislarlo con recursos de reemplazo limitados. Una bomba</a:t>
            </a:r>
          </a:p>
          <a:p xmlns:a="http://schemas.openxmlformats.org/drawingml/2006/main">
            <a:r>
              <a:t>averiada reduce agua disponible y una tormenta reduce energía para iluminación.</a:t>
            </a:r>
          </a:p>
          <a:p xmlns:a="http://schemas.openxmlformats.org/drawingml/2006/main">
            <a:r>
              <a:t>El daño no desaparece al pulsar reparar. Estas reglas permiten discutir operación</a:t>
            </a:r>
          </a:p>
          <a:p xmlns:a="http://schemas.openxmlformats.org/drawingml/2006/main">
            <a:r>
              <a:t>y fallos, pero todavía no están calibradas con cultivos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milpa360-modelo.js; verificar_p3.cjs; P5 §5; captura tormenta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2:15–2:55 · Lámina 5 · Aporte y dependencias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 los supuestos terrestres actuales, huevo y vegetales suman unas 447 kilocalorías</a:t>
            </a:r>
          </a:p>
          <a:p xmlns:a="http://schemas.openxmlformats.org/drawingml/2006/main">
            <a:r>
              <a:t>al día: 2.46 por ciento de lo necesario para seis personas. Las aves consumen</a:t>
            </a:r>
          </a:p>
          <a:p xmlns:a="http://schemas.openxmlformats.org/drawingml/2006/main">
            <a:r>
              <a:t>ración importada. La iluminación requiere unas 10.48 kilovatios hora eléctricos</a:t>
            </a:r>
          </a:p>
          <a:p xmlns:a="http://schemas.openxmlformats.org/drawingml/2006/main">
            <a:r>
              <a:t>al día; al añadir auxiliares y térmica supuestos, el escenario suma unos 25.26,</a:t>
            </a:r>
          </a:p>
          <a:p xmlns:a="http://schemas.openxmlformats.org/drawingml/2006/main">
            <a:r>
              <a:t>todavía con cargas excluidas. El biogás aporta 0.199 kilovatios hora químicos.</a:t>
            </a:r>
          </a:p>
          <a:p xmlns:a="http://schemas.openxmlformats.org/drawingml/2006/main">
            <a:r>
              <a:t>Reservamos la dieta completa sin descontar cosechas no validadas. El valor a investigar está en</a:t>
            </a:r>
          </a:p>
          <a:p xmlns:a="http://schemas.openxmlformats.org/drawingml/2006/main">
            <a:r>
              <a:t>alimento fresco y recuperación controlada, con sus costes medidos.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milpa360_p1.py; MILPA_DATOS.balance; P5 §4, fuentes BVAD/USDA/PMC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2:55–3:25 · Lámina 6 · Qué se verificó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Ya podemos regenerar parámetros, cálculos y planos, ejecutar la demo sin Internet</a:t>
            </a:r>
          </a:p>
          <a:p xmlns:a="http://schemas.openxmlformats.org/drawingml/2006/main">
            <a:r>
              <a:t>y repetir escenarios. No tenemos todavía ensayos físicos registrados. Preparamos</a:t>
            </a:r>
          </a:p>
          <a:p xmlns:a="http://schemas.openxmlformats.org/drawingml/2006/main">
            <a:r>
              <a:t>pruebas de movimiento con carga, riego y aislamiento. Primero debemos comprobar</a:t>
            </a:r>
          </a:p>
          <a:p xmlns:a="http://schemas.openxmlformats.org/drawingml/2006/main">
            <a:r>
              <a:t>el mecanismo y la medición; los procesos biológicos y sanitarios exigen supervisión</a:t>
            </a:r>
          </a:p>
          <a:p xmlns:a="http://schemas.openxmlformats.org/drawingml/2006/main">
            <a:r>
              <a:t>competente. Una captura del modelo no reemplaza esos resultados.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Pruebas P1/P2/P3/P4; VERIFICACION-BLENDER.json; ensayos CSV sin mediciones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3:25–4:05 · Lámina 7 · Chiapas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Proponemos comenzar en un huerto de Tuxtla con una comparación pequeña de riego</a:t>
            </a:r>
          </a:p>
          <a:p xmlns:a="http://schemas.openxmlformats.org/drawingml/2006/main">
            <a:r>
              <a:t>manual y goteo con aislamiento. Son seis recipientes, en tres pares independientes.</a:t>
            </a:r>
          </a:p>
          <a:p xmlns:a="http://schemas.openxmlformats.org/drawingml/2006/main">
            <a:r>
              <a:t>Mediremos agua nueva por kilo utilizable, trabajo y energía. Sitio, operador y</a:t>
            </a:r>
          </a:p>
          <a:p xmlns:a="http://schemas.openxmlformats.org/drawingml/2006/main">
            <a:r>
              <a:t>línea base están pendientes. Así podremos decidir con datos si una función del</a:t>
            </a:r>
          </a:p>
          <a:p xmlns:a="http://schemas.openxmlformats.org/drawingml/2006/main">
            <a:r>
              <a:t>concepto merece crecer. No prometemos ahorro antes de obtener una cosecha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P4-PRESUPUESTO-CHIAPAS.md; protocolo exploratorio, sitio y operador pendientes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4:05–4:35 · Lámina 8 · Recursos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Separamos los costes de la maqueta Madrid, el piloto Chiapas y el concepto marciano.</a:t>
            </a:r>
          </a:p>
          <a:p xmlns:a="http://schemas.openxmlformats.org/drawingml/2006/main">
            <a:r>
              <a:t>Tenemos partidas y algunas referencias públicas; faltan cotizaciones y fabricación.</a:t>
            </a:r>
          </a:p>
          <a:p xmlns:a="http://schemas.openxmlformats.org/drawingml/2006/main">
            <a:r>
              <a:t>No usamos un subtotal como precio del proyecto ni un precio comercial como coste</a:t>
            </a:r>
          </a:p>
          <a:p xmlns:a="http://schemas.openxmlformats.org/drawingml/2006/main">
            <a:r>
              <a:t>de equipo espacial. El siguiente gasto debe responder a la incertidumbre que</a:t>
            </a:r>
          </a:p>
          <a:p xmlns:a="http://schemas.openxmlformats.org/drawingml/2006/main">
            <a:r>
              <a:t>queramos reducir, especialmente acceso, accionamiento y medición del agua.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presupuesto S4; XLSX con fórmulas. No precio total ni cotización formal.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4:35–5:00 · Lámina 9 · Siguiente demostración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siguiente evidencia que necesitamos es una transferencia o acceso practicable,</a:t>
            </a:r>
          </a:p>
          <a:p xmlns:a="http://schemas.openxmlformats.org/drawingml/2006/main">
            <a:r>
              <a:t>un indexado medido y una prueba independiente de riego e aislamiento. MILPA-360</a:t>
            </a:r>
          </a:p>
          <a:p xmlns:a="http://schemas.openxmlformats.org/drawingml/2006/main">
            <a:r>
              <a:t>conserva la idea de conectar procesos mediante el movimiento del sustrato. Ahora</a:t>
            </a:r>
          </a:p>
          <a:p xmlns:a="http://schemas.openxmlformats.org/drawingml/2006/main">
            <a:r>
              <a:t>la acompañamos con límites, trazabilidad y ensayos que permitirán decidir si esa</a:t>
            </a:r>
          </a:p>
          <a:p xmlns:a="http://schemas.openxmlformats.org/drawingml/2006/main">
            <a:r>
              <a:t>complejidad aporta una ventaja real frente a una solución más simple.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protocolos E1–E4; P5 §3/6; hipótesis, sin patente ni ensayos concluidos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V4;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4cc53bd3154a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0651dee7694f87" /><Relationship Type="http://schemas.openxmlformats.org/officeDocument/2006/relationships/slideLayout" Target="/ppt/slideLayouts/slideLayout1.xml" Id="R6683d749133d41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83d749133d41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81fba64e4826" /><Relationship Type="http://schemas.openxmlformats.org/officeDocument/2006/relationships/image" Target="/ppt/media/image.png" Id="R76e4b543af914994" /><Relationship Type="http://schemas.openxmlformats.org/officeDocument/2006/relationships/notesSlide" Target="/ppt/notesSlides/notesSlide1.xml" Id="R68f7f2f4c2f64e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6e97031de4087" /><Relationship Type="http://schemas.openxmlformats.org/officeDocument/2006/relationships/image" Target="/ppt/media/image2.png" Id="R57e7e1f65b3d4f0e" /><Relationship Type="http://schemas.openxmlformats.org/officeDocument/2006/relationships/notesSlide" Target="/ppt/notesSlides/notesSlide2.xml" Id="Ra1186582390d4b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94816d9c349dc" /><Relationship Type="http://schemas.openxmlformats.org/officeDocument/2006/relationships/image" Target="/ppt/media/image3.png" Id="R4b51f05d47f84450" /><Relationship Type="http://schemas.openxmlformats.org/officeDocument/2006/relationships/notesSlide" Target="/ppt/notesSlides/notesSlide3.xml" Id="Rfc4fb37d76e449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fb73f90ba4ee3" /><Relationship Type="http://schemas.openxmlformats.org/officeDocument/2006/relationships/image" Target="/ppt/media/image4.png" Id="Rab85fd95ed6f4029" /><Relationship Type="http://schemas.openxmlformats.org/officeDocument/2006/relationships/notesSlide" Target="/ppt/notesSlides/notesSlide4.xml" Id="R0ce92741d1b04a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046ef6cab46c9" /><Relationship Type="http://schemas.openxmlformats.org/officeDocument/2006/relationships/notesSlide" Target="/ppt/notesSlides/notesSlide5.xml" Id="R6fd4401afaf24d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fd8ba12d34145" /><Relationship Type="http://schemas.openxmlformats.org/officeDocument/2006/relationships/image" Target="/ppt/media/image5.png" Id="R5010da26d7774ced" /><Relationship Type="http://schemas.openxmlformats.org/officeDocument/2006/relationships/notesSlide" Target="/ppt/notesSlides/notesSlide6.xml" Id="R213c78cf8c7941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5247f901746bc" /><Relationship Type="http://schemas.openxmlformats.org/officeDocument/2006/relationships/notesSlide" Target="/ppt/notesSlides/notesSlide7.xml" Id="Rdce37ae4e3f543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c691cc8834fa5" /><Relationship Type="http://schemas.openxmlformats.org/officeDocument/2006/relationships/notesSlide" Target="/ppt/notesSlides/notesSlide8.xml" Id="Re193947dca314f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176a4c657440b" /><Relationship Type="http://schemas.openxmlformats.org/officeDocument/2006/relationships/notesSlide" Target="/ppt/notesSlides/notesSlide9.xml" Id="R2a152b80974147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C4FF7-FD50-490E-9B54-FA42433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99C8D-33E0-4D12-AE4D-BF0A32BD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MILPA-360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6B6C3-B666-44C0-A8F9-9ACAF42F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01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A04A1-F195-4FCB-93A3-DEBDDE9B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214E5-6B88-4B3F-A3F0-E1265DFA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85925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Sustrato en movimiento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CDA2B-80CB-4C2E-A498-C7BFBDEB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371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Recuperación de sustrato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Residuos animales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Cultivo complementario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11F33-D63D-4125-BC03-6DE5221E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Aldo Fabio Contreras Marroquín</a:t>
            </a:r>
          </a:p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Equipo BioMars Chiapas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4b543af914994"/>
          <a:stretch xmlns:a="http://schemas.openxmlformats.org/drawingml/2006/main"/>
        </p:blipFill>
        <p:spPr>
          <a:xfrm xmlns:a="http://schemas.openxmlformats.org/drawingml/2006/main">
            <a:off x="4476750" y="1750219"/>
            <a:ext cx="7239000" cy="40719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647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CB666-A2E6-4079-B1EE-7BB2241C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A60B2-871B-4B8C-843D-D1F40208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Procesos conectados y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F9A90-E6E4-4FDD-A28E-627B54BC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02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20C7E-D24F-402B-B84D-39AD0914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25EABD-C7F4-498B-8E28-616944E1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Animal → residuo → cultivo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DD7C1-30A1-4CA5-BC99-D0DE3BE8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5286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Salmuera: reactor separado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Digestato: retención y análisis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Liberación: autorización del lote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8D787-50DA-42C4-85CD-D104A6FF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requisito de 100%</a:t>
            </a:r>
          </a:p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sigue sin demostrarse.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7e1f65b3d4f0e"/>
          <a:stretch xmlns:a="http://schemas.openxmlformats.org/drawingml/2006/main"/>
        </p:blipFill>
        <p:spPr>
          <a:xfrm xmlns:a="http://schemas.openxmlformats.org/drawingml/2006/main">
            <a:off x="6238875" y="2521148"/>
            <a:ext cx="5429250" cy="305395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792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DBC2A-F228-4557-A9D4-32917307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B96B0-BA75-442E-B7B8-B0BA5CF4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Veinte cartuchos, una trayectoria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4B64D-62D8-4C50-9F2C-BEED998C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03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82A0C-423A-481D-B50B-F19660BB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169E9-1B76-4116-82BB-D931F8E0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209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DEF19-8B54-4128-B9A5-2641E422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8 regeneración + 12 cultivo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0415D-7530-42A3-8886-B831C353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3.086 m² útiles de cultivo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Ø 4.56 m nominal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≈1.98 t de masa móvil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15ADA-37CF-4F94-85E7-31246DD2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Entrada / evacuación pendiente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1f05d47f84450"/>
          <a:srcRect xmlns:a="http://schemas.openxmlformats.org/drawingml/2006/main" l="14457" t="0" r="1445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685925"/>
            <a:ext cx="5476875" cy="4333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643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91F25-0D91-4260-A2E4-BFD09516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880FE7-957C-4A61-9974-7FACBCD4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Cada lote conserva su historia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A9497-88B1-411E-AF3D-FFFB2F1A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04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FBC2B-6CAC-405D-9672-FF3DFA2B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A6712-7492-49A5-BECD-BCEDD9E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62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Tratamiento → muestra → decisión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2A43D-A7DA-42FC-B186-C0F168CA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552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Sin análisis: retención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Fallo: daño persistente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Reemplazo: recursos limitados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3894D-DEDF-44D8-B424-8A0FB50E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561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Respuesta biológica ilustrativa.</a:t>
            </a:r>
          </a:p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control no es un análisis químico.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5fd95ed6f4029"/>
          <a:stretch xmlns:a="http://schemas.openxmlformats.org/drawingml/2006/main"/>
        </p:blipFill>
        <p:spPr>
          <a:xfrm xmlns:a="http://schemas.openxmlformats.org/drawingml/2006/main">
            <a:off x="6334125" y="2619375"/>
            <a:ext cx="5334000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7023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794F5-F4B2-4019-B018-74130CDD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A16BC-2416-4C19-9083-EAB34C36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Alimento complementario, energía externa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6329D-8CD3-4FE0-8757-0AA23193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05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ED17F-18A1-4A1F-A719-C99FFDE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9134F-5E70-4D8C-A13F-AE5BD7CB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2.46%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A43E55-0D12-4CB5-AF5D-A561974E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 las kcal de seis personas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35B38-B746-4C6A-99D6-B266735E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447 kcal/d entre huevo y vegetales</a:t>
            </a:r>
          </a:p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0.7704 kg/d de ración animal importada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CF816-E46D-41ED-8698-7DA5E9EF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9526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25.26 kWh eléctricos/d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1666C-065C-4AD1-ADB4-1D06119B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667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8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Subtotal del escenario modelado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FF6FE1-758A-439A-A7A9-4B5218EA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7052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0.199 kWh químicos/d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54648-05AC-4126-9C40-CEFB6411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438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Biogás antes de conversión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95309-CA1B-402E-9287-A756CDB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40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10.48 kWh/d son luz. Auxiliares y térmica con supuestos; faltan cargas.</a:t>
            </a:r>
          </a:p>
        </p:txBody>
      </p:sp>
    </p:spTree>
    <p:extLst>
      <p:ext uri="{BB962C8B-B14F-4D97-AF65-F5344CB8AC3E}">
        <p14:creationId xmlns:p14="http://schemas.microsoft.com/office/powerpoint/2010/main" val="307950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0EC5B-7074-462B-A211-03A6992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47ECE-6A37-4D4B-A170-6C7F5B4E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Evidencia disponible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AFF40-5277-484B-A0EB-D8E55924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06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A3146-80E5-4F1D-9BB9-6EB991FA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59214-F7BF-4F94-968C-F594E975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47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Verificado digitalmente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8F3E7-7FD2-4036-BAEE-9B1D1996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5238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Cálculos y geometría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Estado reproducible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Demo sin Internet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60207-20CD-4A68-9319-E521F2C7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552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Pendiente: carga real, acceso,</a:t>
            </a:r>
          </a:p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agua medida e inocuidad.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0da26d7774ced"/>
          <a:stretch xmlns:a="http://schemas.openxmlformats.org/drawingml/2006/main"/>
        </p:blipFill>
        <p:spPr>
          <a:xfrm xmlns:a="http://schemas.openxmlformats.org/drawingml/2006/main">
            <a:off x="6381750" y="1884759"/>
            <a:ext cx="5286375" cy="39647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9371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8E522-AEA8-4684-BCE2-953E14E0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54DC2-B985-434C-A80D-677D7081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Un piloto acotado en Tuxtla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A1D58-707B-4046-8962-21E9DCEE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07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D4C54-4561-4439-B716-4CEA7907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2D50B-FC92-480A-B178-86ACCAE8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123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31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6 recipientes / 3 pares independientes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F5107E-0BBA-406B-9045-855C25C0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05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Riego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EFCD4-4DCF-4403-BAA5-5626300A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Goteo + aislamiento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6D5CD-B7D6-4D57-9EF9-FC8569AF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0047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Misma especie, sustrato y condiciones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AAD47-0986-46CB-B7A1-2C814857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00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3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Medir agua nueva/kg utilizable, tiempo y energía.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1E7D1-FC1F-4BE7-8541-3B95A925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530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Sitio, operador, línea base y resultados pendientes.</a:t>
            </a:r>
          </a:p>
        </p:txBody>
      </p:sp>
    </p:spTree>
    <p:extLst>
      <p:ext uri="{BB962C8B-B14F-4D97-AF65-F5344CB8AC3E}">
        <p14:creationId xmlns:p14="http://schemas.microsoft.com/office/powerpoint/2010/main" val="17459362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269D4-6AF5-4A66-BC76-C3069DE9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AD504-7ABB-4896-8339-C933C078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Costes separados por alcance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6B39F-15B5-4B9F-AF80-EED92F56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08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7C99D-082C-4B4F-87DC-9745C33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838575"/>
              </a:tblGrid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Alcance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Disponibilidad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Brecha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Maqueta Madrid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19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Fabricación y recursos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Piloto Chiapas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20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Sitio, análisis y operación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Concepto marciano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Recursos dimensionales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Integración y ciclo de vida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C6F8E-8548-4A29-BED6-97D6503D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1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Precios públicos parciales. Total de compra pendiente.</a:t>
            </a:r>
          </a:p>
        </p:txBody>
      </p:sp>
    </p:spTree>
    <p:extLst>
      <p:ext uri="{BB962C8B-B14F-4D97-AF65-F5344CB8AC3E}">
        <p14:creationId xmlns:p14="http://schemas.microsoft.com/office/powerpoint/2010/main" val="8288975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15FA6-3E19-45FD-A420-D1B5DC9D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7E345-B6BC-47DA-814F-F0AB06C0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La siguiente 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DDECE9-AB77-4901-A6AF-F3B8B78A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09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CF12D0-75FF-40F2-B6FF-8309B77C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DDDD8-D9BA-4383-BE82-9C6F54B0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1066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Acceso y extracción practicables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Indexado con carga medida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Riego e aislamiento verificables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886DC-FBF5-4E4D-824D-A237910A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Comparar el carrusel con una solución más simple.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Decidir con mediciones y conservar los límites visibles.</a:t>
            </a:r>
          </a:p>
        </p:txBody>
      </p:sp>
    </p:spTree>
    <p:extLst>
      <p:ext uri="{BB962C8B-B14F-4D97-AF65-F5344CB8AC3E}">
        <p14:creationId xmlns:p14="http://schemas.microsoft.com/office/powerpoint/2010/main" val="1284259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2026-09-21T10:13:09.1030000Z</dcterms:created>
  <dcterms:modified xsi:type="dcterms:W3CDTF">2026-09-21T10:13:09.1030000Z</dcterms:modified>
</coreProperties>
</file>