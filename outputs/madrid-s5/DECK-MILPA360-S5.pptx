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301976ec1f54f68" /><Relationship Type="http://schemas.openxmlformats.org/officeDocument/2006/relationships/extended-properties" Target="/docProps/app.xml" Id="R929b753cae1f4492" /><Relationship Type="http://schemas.openxmlformats.org/officeDocument/2006/relationships/officeDocument" Target="/ppt/presentation.xml" Id="R354b63c1d3b841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f9ae07207f04c55"/>
  </p:sldMasterIdLst>
  <p:notesMasterIdLst>
    <p:notesMasterId xmlns:r="http://schemas.openxmlformats.org/officeDocument/2006/relationships" r:id="R1b43472685f64e8f"/>
  </p:notesMasterIdLst>
  <p:sldIdLst>
    <p:sldId xmlns:r="http://schemas.openxmlformats.org/officeDocument/2006/relationships" id="256" r:id="R0da2e52454224799"/>
    <p:sldId xmlns:r="http://schemas.openxmlformats.org/officeDocument/2006/relationships" id="257" r:id="R55b166e153564ce9"/>
    <p:sldId xmlns:r="http://schemas.openxmlformats.org/officeDocument/2006/relationships" id="258" r:id="Rea23059d279e4f54"/>
    <p:sldId xmlns:r="http://schemas.openxmlformats.org/officeDocument/2006/relationships" id="259" r:id="Rf65fe953ca4b4135"/>
    <p:sldId xmlns:r="http://schemas.openxmlformats.org/officeDocument/2006/relationships" id="260" r:id="Rb0b4c86342764188"/>
    <p:sldId xmlns:r="http://schemas.openxmlformats.org/officeDocument/2006/relationships" id="261" r:id="R44eb2fc9a9ca4885"/>
    <p:sldId xmlns:r="http://schemas.openxmlformats.org/officeDocument/2006/relationships" id="262" r:id="Rea233f6d988b4520"/>
    <p:sldId xmlns:r="http://schemas.openxmlformats.org/officeDocument/2006/relationships" id="263" r:id="R3cc32963afbd4450"/>
    <p:sldId xmlns:r="http://schemas.openxmlformats.org/officeDocument/2006/relationships" id="264" r:id="Rc7acc110178441e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fc1db72d4d14add" /><Relationship Type="http://schemas.openxmlformats.org/officeDocument/2006/relationships/slideMaster" Target="/ppt/slideMasters/slideMaster1.xml" Id="R3f9ae07207f04c55" /><Relationship Type="http://schemas.openxmlformats.org/officeDocument/2006/relationships/notesMaster" Target="/ppt/notesMasters/notesMaster1.xml" Id="R1b43472685f64e8f" /><Relationship Type="http://schemas.openxmlformats.org/officeDocument/2006/relationships/presProps" Target="/ppt/presProps.xml" Id="Rb238bb6402504099" /><Relationship Type="http://schemas.openxmlformats.org/officeDocument/2006/relationships/tableStyles" Target="/ppt/tableStyles.xml" Id="Rb050eb1a08234ff9" /><Relationship Type="http://schemas.openxmlformats.org/officeDocument/2006/relationships/slide" Target="/ppt/slides/slide1.xml" Id="R0da2e52454224799" /><Relationship Type="http://schemas.openxmlformats.org/officeDocument/2006/relationships/slide" Target="/ppt/slides/slide2.xml" Id="R55b166e153564ce9" /><Relationship Type="http://schemas.openxmlformats.org/officeDocument/2006/relationships/slide" Target="/ppt/slides/slide3.xml" Id="Rea23059d279e4f54" /><Relationship Type="http://schemas.openxmlformats.org/officeDocument/2006/relationships/slide" Target="/ppt/slides/slide4.xml" Id="Rf65fe953ca4b4135" /><Relationship Type="http://schemas.openxmlformats.org/officeDocument/2006/relationships/slide" Target="/ppt/slides/slide5.xml" Id="Rb0b4c86342764188" /><Relationship Type="http://schemas.openxmlformats.org/officeDocument/2006/relationships/slide" Target="/ppt/slides/slide6.xml" Id="R44eb2fc9a9ca4885" /><Relationship Type="http://schemas.openxmlformats.org/officeDocument/2006/relationships/slide" Target="/ppt/slides/slide7.xml" Id="Rea233f6d988b4520" /><Relationship Type="http://schemas.openxmlformats.org/officeDocument/2006/relationships/slide" Target="/ppt/slides/slide8.xml" Id="R3cc32963afbd4450" /><Relationship Type="http://schemas.openxmlformats.org/officeDocument/2006/relationships/slide" Target="/ppt/slides/slide9.xml" Id="Rc7acc110178441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cd4a8f1604b44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19c01eb5c34158" /><Relationship Type="http://schemas.openxmlformats.org/officeDocument/2006/relationships/notesMaster" Target="/ppt/notesMasters/notesMaster1.xml" Id="R891c49338790480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5490e869cb04c33" /><Relationship Type="http://schemas.openxmlformats.org/officeDocument/2006/relationships/notesMaster" Target="/ppt/notesMasters/notesMaster1.xml" Id="Rcd0da059bba7408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e99921593284d81" /><Relationship Type="http://schemas.openxmlformats.org/officeDocument/2006/relationships/notesMaster" Target="/ppt/notesMasters/notesMaster1.xml" Id="R4487efe0c4b9428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9d7def701ec4035" /><Relationship Type="http://schemas.openxmlformats.org/officeDocument/2006/relationships/notesMaster" Target="/ppt/notesMasters/notesMaster1.xml" Id="Rd94eb2bf0b4d42c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f64b0e39de34592" /><Relationship Type="http://schemas.openxmlformats.org/officeDocument/2006/relationships/notesMaster" Target="/ppt/notesMasters/notesMaster1.xml" Id="R0b7542a61dc542b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60b708002534875" /><Relationship Type="http://schemas.openxmlformats.org/officeDocument/2006/relationships/notesMaster" Target="/ppt/notesMasters/notesMaster1.xml" Id="R5f23f9e2c1b041c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dcbc74f50be4e4e" /><Relationship Type="http://schemas.openxmlformats.org/officeDocument/2006/relationships/notesMaster" Target="/ppt/notesMasters/notesMaster1.xml" Id="R5347f20f5c1241b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e456ec7641c4d89" /><Relationship Type="http://schemas.openxmlformats.org/officeDocument/2006/relationships/notesMaster" Target="/ppt/notesMasters/notesMaster1.xml" Id="R4761751b983a42d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59bb11b49374e95" /><Relationship Type="http://schemas.openxmlformats.org/officeDocument/2006/relationships/notesMaster" Target="/ppt/notesMasters/notesMaster1.xml" Id="R24e6c0814e3a41a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0:00–0:30 · Lámina 1 · La propuesta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Somos BioMars Chiapas. MILPA-360 es una propuesta para conectar recuperación de</a:t>
            </a:r>
          </a:p>
          <a:p xmlns:a="http://schemas.openxmlformats.org/drawingml/2006/main">
            <a:r>
              <a:t>sustrato, aprovechamiento de residuos animales y cultivo. Presentamos un concepto</a:t>
            </a:r>
          </a:p>
          <a:p xmlns:a="http://schemas.openxmlformats.org/drawingml/2006/main">
            <a:r>
              <a:t>de ingeniería y su demostrador digital. Nuestro objetivo hoy es explicar cómo</a:t>
            </a:r>
          </a:p>
          <a:p xmlns:a="http://schemas.openxmlformats.org/drawingml/2006/main">
            <a:r>
              <a:t>funciona, cuánto puede aportar y qué falta demostrar antes de construir un piloto.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P5-DEFENSA.md §1; captura hero, escena nominal S5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V3;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0:30–1:00 · Lámina 2 · Las tres funciones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Un lote de sustrato recibe un tratamiento, pasa por estaciones y llega a cultivo</a:t>
            </a:r>
          </a:p>
          <a:p xmlns:a="http://schemas.openxmlformats.org/drawingml/2006/main">
            <a:r>
              <a:t>sólo después de control de calidad. Los residuos se asignan a rutas concretas:</a:t>
            </a:r>
          </a:p>
          <a:p xmlns:a="http://schemas.openxmlformats.org/drawingml/2006/main">
            <a:r>
              <a:t>larvario, digestión y retención. La salmuera permanece en un reactor separado.</a:t>
            </a:r>
          </a:p>
          <a:p xmlns:a="http://schemas.openxmlformats.org/drawingml/2006/main">
            <a:r>
              <a:t>Este esquema conserva las tres partes del reto; todavía no demuestra recuperación</a:t>
            </a:r>
          </a:p>
          <a:p xmlns:a="http://schemas.openxmlformats.org/drawingml/2006/main">
            <a:r>
              <a:t>del cien por ciento ni seguridad sanitaria. Son requisitos que mantenemos abiertos.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Matriz RU, P1 D3–D5, P5 §2/4; P05-procesos S5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V3;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1:00–1:40 · Lámina 3 · Mecanismo y escala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Ahora usamos veinte cartuchos idénticos en un solo anillo. El mismo recipiente</a:t>
            </a:r>
          </a:p>
          <a:p xmlns:a="http://schemas.openxmlformats.org/drawingml/2006/main">
            <a:r>
              <a:t>cambia de etapa: evitamos transferencias imaginarias entre bandejas distintas.</a:t>
            </a:r>
          </a:p>
          <a:p xmlns:a="http://schemas.openxmlformats.org/drawingml/2006/main">
            <a:r>
              <a:t>La configuración tiene 3.086 metros cuadrados útiles de cultivo y un diámetro</a:t>
            </a:r>
          </a:p>
          <a:p xmlns:a="http://schemas.openxmlformats.org/drawingml/2006/main">
            <a:r>
              <a:t>nominal de 4.56 metros. La masa móvil estimada es casi dos toneladas. La figura</a:t>
            </a:r>
          </a:p>
          <a:p xmlns:a="http://schemas.openxmlformats.org/drawingml/2006/main">
            <a:r>
              <a:t>humana da escala, pero el anillo aún corta la entrada. Estudiamos un sector de</a:t>
            </a:r>
          </a:p>
          <a:p xmlns:a="http://schemas.openxmlformats.org/drawingml/2006/main">
            <a:r>
              <a:t>servicio desmontable; no presentamos el acceso ni la resistencia como resueltos.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parameters.json; milpa360_p2.py; milpa360_p4.py; P5 §3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V3;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1:40–2:15 · Lámina 4 · Control por lote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Cada lote conserva historial. Sin análisis aceptable permanece retenido. Si se</a:t>
            </a:r>
          </a:p>
          <a:p xmlns:a="http://schemas.openxmlformats.org/drawingml/2006/main">
            <a:r>
              <a:t>rechaza, el modelo permite aislarlo con recursos de reemplazo limitados. Una bomba</a:t>
            </a:r>
          </a:p>
          <a:p xmlns:a="http://schemas.openxmlformats.org/drawingml/2006/main">
            <a:r>
              <a:t>averiada reduce agua disponible y una tormenta reduce energía para iluminación.</a:t>
            </a:r>
          </a:p>
          <a:p xmlns:a="http://schemas.openxmlformats.org/drawingml/2006/main">
            <a:r>
              <a:t>El daño no desaparece al pulsar reparar. Estas reglas permiten discutir operación</a:t>
            </a:r>
          </a:p>
          <a:p xmlns:a="http://schemas.openxmlformats.org/drawingml/2006/main">
            <a:r>
              <a:t>y fallos, pero todavía no están calibradas con cultivos reales.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milpa360-modelo.js; verificar_p3.cjs; P5 §5; captura tormenta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V3;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2:15–2:55 · Lámina 5 · Aporte y dependencias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 los supuestos terrestres actuales, huevo y vegetales suman unas 447 kilocalorías</a:t>
            </a:r>
          </a:p>
          <a:p xmlns:a="http://schemas.openxmlformats.org/drawingml/2006/main">
            <a:r>
              <a:t>al día: 2.46 por ciento de lo necesario para seis personas. Las aves consumen</a:t>
            </a:r>
          </a:p>
          <a:p xmlns:a="http://schemas.openxmlformats.org/drawingml/2006/main">
            <a:r>
              <a:t>ración importada. La iluminación requiere unas 10.48 kilovatios hora eléctricos</a:t>
            </a:r>
          </a:p>
          <a:p xmlns:a="http://schemas.openxmlformats.org/drawingml/2006/main">
            <a:r>
              <a:t>al día; al añadir auxiliares y térmica supuestos, el escenario suma unos 25.26,</a:t>
            </a:r>
          </a:p>
          <a:p xmlns:a="http://schemas.openxmlformats.org/drawingml/2006/main">
            <a:r>
              <a:t>todavía con cargas excluidas. El biogás aporta 0.199 kilovatios hora químicos.</a:t>
            </a:r>
          </a:p>
          <a:p xmlns:a="http://schemas.openxmlformats.org/drawingml/2006/main">
            <a:r>
              <a:t>Reservamos la dieta completa sin descontar cosechas no validadas. El valor a investigar está en</a:t>
            </a:r>
          </a:p>
          <a:p xmlns:a="http://schemas.openxmlformats.org/drawingml/2006/main">
            <a:r>
              <a:t>alimento fresco y recuperación controlada, con sus costes medidos.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milpa360_p1.py; MILPA_DATOS.balance; P5 §4, fuentes BVAD/USDA/PMC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V3;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2:55–3:25 · Lámina 6 · Qué se verificó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Ya podemos regenerar parámetros, cálculos y planos, ejecutar la demo sin Internet</a:t>
            </a:r>
          </a:p>
          <a:p xmlns:a="http://schemas.openxmlformats.org/drawingml/2006/main">
            <a:r>
              <a:t>y repetir escenarios. No tenemos todavía ensayos físicos registrados. Preparamos</a:t>
            </a:r>
          </a:p>
          <a:p xmlns:a="http://schemas.openxmlformats.org/drawingml/2006/main">
            <a:r>
              <a:t>pruebas de movimiento con carga, riego y aislamiento. Primero debemos comprobar</a:t>
            </a:r>
          </a:p>
          <a:p xmlns:a="http://schemas.openxmlformats.org/drawingml/2006/main">
            <a:r>
              <a:t>el mecanismo y la medición; los procesos biológicos y sanitarios exigen supervisión</a:t>
            </a:r>
          </a:p>
          <a:p xmlns:a="http://schemas.openxmlformats.org/drawingml/2006/main">
            <a:r>
              <a:t>competente. Una captura del modelo no reemplaza esos resultados.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Pruebas P1/P2/P3/P4; VERIFICACION-BLENDER.json; ensayos CSV sin mediciones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V3;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3:25–4:05 · Lámina 7 · Chiapas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Proponemos comenzar en un huerto de Tuxtla con una comparación pequeña de riego</a:t>
            </a:r>
          </a:p>
          <a:p xmlns:a="http://schemas.openxmlformats.org/drawingml/2006/main">
            <a:r>
              <a:t>manual y goteo con aislamiento. Son seis recipientes, en tres pares independientes.</a:t>
            </a:r>
          </a:p>
          <a:p xmlns:a="http://schemas.openxmlformats.org/drawingml/2006/main">
            <a:r>
              <a:t>Mediremos agua nueva por kilo utilizable, trabajo y energía. Sitio, operador y</a:t>
            </a:r>
          </a:p>
          <a:p xmlns:a="http://schemas.openxmlformats.org/drawingml/2006/main">
            <a:r>
              <a:t>línea base están pendientes. Así podremos decidir con datos si una función del</a:t>
            </a:r>
          </a:p>
          <a:p xmlns:a="http://schemas.openxmlformats.org/drawingml/2006/main">
            <a:r>
              <a:t>concepto merece crecer. No prometemos ahorro antes de obtener una cosecha comparable.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P4-PRESUPUESTO-CHIAPAS.md; protocolo exploratorio, sitio y operador pendientes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V3;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4:05–4:35 · Lámina 8 · Recursos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Separamos los costes de la maqueta Madrid, el piloto Chiapas y el concepto marciano.</a:t>
            </a:r>
          </a:p>
          <a:p xmlns:a="http://schemas.openxmlformats.org/drawingml/2006/main">
            <a:r>
              <a:t>Tenemos partidas y algunas referencias públicas; faltan cotizaciones y fabricación.</a:t>
            </a:r>
          </a:p>
          <a:p xmlns:a="http://schemas.openxmlformats.org/drawingml/2006/main">
            <a:r>
              <a:t>No usamos un subtotal como precio del proyecto ni un precio comercial como coste</a:t>
            </a:r>
          </a:p>
          <a:p xmlns:a="http://schemas.openxmlformats.org/drawingml/2006/main">
            <a:r>
              <a:t>de equipo espacial. El siguiente gasto debe responder a la incertidumbre que</a:t>
            </a:r>
          </a:p>
          <a:p xmlns:a="http://schemas.openxmlformats.org/drawingml/2006/main">
            <a:r>
              <a:t>queramos reducir, especialmente acceso, accionamiento y medición del agua.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P4 presupuesto S4; XLSX con fórmulas. No precio total ni cotización formal.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V3;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4:35–5:00 · Lámina 9 · Siguiente demostración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 siguiente evidencia que necesitamos es una transferencia o acceso practicable,</a:t>
            </a:r>
          </a:p>
          <a:p xmlns:a="http://schemas.openxmlformats.org/drawingml/2006/main">
            <a:r>
              <a:t>un indexado medido y una prueba independiente de riego e aislamiento. MILPA-360</a:t>
            </a:r>
          </a:p>
          <a:p xmlns:a="http://schemas.openxmlformats.org/drawingml/2006/main">
            <a:r>
              <a:t>conserva la idea de conectar procesos mediante el movimiento del sustrato. Ahora</a:t>
            </a:r>
          </a:p>
          <a:p xmlns:a="http://schemas.openxmlformats.org/drawingml/2006/main">
            <a:r>
              <a:t>la acompañamos con límites, trazabilidad y ensayos que permitirán decidir si esa</a:t>
            </a:r>
          </a:p>
          <a:p xmlns:a="http://schemas.openxmlformats.org/drawingml/2006/main">
            <a:r>
              <a:t>complejidad aporta una ventaja real frente a una solución más simple.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P4 protocolos E1–E4; P5 §3/6; hipótesis, sin patente ni ensayos concluidos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V3;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f702925787490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5ca548a3e264d75" /><Relationship Type="http://schemas.openxmlformats.org/officeDocument/2006/relationships/slideLayout" Target="/ppt/slideLayouts/slideLayout1.xml" Id="R2950751ca031492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950751ca031492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74636926de4318" /><Relationship Type="http://schemas.openxmlformats.org/officeDocument/2006/relationships/image" Target="/ppt/media/image.png" Id="Rf3a7ffc0172b4eca" /><Relationship Type="http://schemas.openxmlformats.org/officeDocument/2006/relationships/notesSlide" Target="/ppt/notesSlides/notesSlide1.xml" Id="Rb636428999114a7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edd9f981204df8" /><Relationship Type="http://schemas.openxmlformats.org/officeDocument/2006/relationships/image" Target="/ppt/media/image2.png" Id="R3d11aa94863a490f" /><Relationship Type="http://schemas.openxmlformats.org/officeDocument/2006/relationships/notesSlide" Target="/ppt/notesSlides/notesSlide2.xml" Id="R5f88e7408107463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f0c5fc971d41a9" /><Relationship Type="http://schemas.openxmlformats.org/officeDocument/2006/relationships/image" Target="/ppt/media/image3.png" Id="Rdaef4ecf0d4d48d0" /><Relationship Type="http://schemas.openxmlformats.org/officeDocument/2006/relationships/notesSlide" Target="/ppt/notesSlides/notesSlide3.xml" Id="R28c452eb649b419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924d1375cd40fc" /><Relationship Type="http://schemas.openxmlformats.org/officeDocument/2006/relationships/image" Target="/ppt/media/image4.png" Id="R97213adc81ae434c" /><Relationship Type="http://schemas.openxmlformats.org/officeDocument/2006/relationships/notesSlide" Target="/ppt/notesSlides/notesSlide4.xml" Id="R54f23f669efa419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84c961c21d4b20" /><Relationship Type="http://schemas.openxmlformats.org/officeDocument/2006/relationships/notesSlide" Target="/ppt/notesSlides/notesSlide5.xml" Id="R62feca082837488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04065aee454a8a" /><Relationship Type="http://schemas.openxmlformats.org/officeDocument/2006/relationships/image" Target="/ppt/media/image5.png" Id="R5dadf83fa3674f01" /><Relationship Type="http://schemas.openxmlformats.org/officeDocument/2006/relationships/notesSlide" Target="/ppt/notesSlides/notesSlide6.xml" Id="Rd201f7297ca945e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ca55924a7f40db" /><Relationship Type="http://schemas.openxmlformats.org/officeDocument/2006/relationships/notesSlide" Target="/ppt/notesSlides/notesSlide7.xml" Id="Redca74fc252d473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9cf1aed26944ff" /><Relationship Type="http://schemas.openxmlformats.org/officeDocument/2006/relationships/notesSlide" Target="/ppt/notesSlides/notesSlide8.xml" Id="Rff9063a5751b400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53b6a193454cd6" /><Relationship Type="http://schemas.openxmlformats.org/officeDocument/2006/relationships/notesSlide" Target="/ppt/notesSlides/notesSlide9.xml" Id="Rbb3c1b97bb6542b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E37421-666B-453C-BF9C-E7B24EE0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9CDFEE-9C26-4760-8910-C128A39F2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MILPA-360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D80AE5-0A52-4063-8831-A68EFB06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01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401041-A250-4A27-9A67-305355DE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80D692-F5C4-4659-9EB9-0092D74C5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85925"/>
            <a:ext cx="4095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Sustrato en movimiento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8FF183-9C5F-4043-B406-4C817925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95600"/>
            <a:ext cx="3714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025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Recuperación de sustrato</a:t>
            </a:r>
          </a:p>
          <a:p xmlns:a="http://schemas.openxmlformats.org/drawingml/2006/main">
            <a:pPr>
              <a:defRPr sz="2025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025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Residuos animales</a:t>
            </a:r>
          </a:p>
          <a:p xmlns:a="http://schemas.openxmlformats.org/drawingml/2006/main">
            <a:pPr>
              <a:defRPr sz="2025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025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Cultivo complementario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BCDFB3-2DAD-4ECE-947A-BA211F7F7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5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Aldo Fabio Contreras Marroquín</a:t>
            </a:r>
          </a:p>
          <a:p xmlns:a="http://schemas.openxmlformats.org/drawingml/2006/main">
            <a:pPr>
              <a:defRPr sz="15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5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Equipo BioMars Chiapas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a7ffc0172b4eca"/>
          <a:stretch xmlns:a="http://schemas.openxmlformats.org/drawingml/2006/main"/>
        </p:blipFill>
        <p:spPr>
          <a:xfrm xmlns:a="http://schemas.openxmlformats.org/drawingml/2006/main">
            <a:off x="4476750" y="1750219"/>
            <a:ext cx="7239000" cy="407193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43684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0D0232-CDEA-48D6-ACF6-DD6AF674E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DB1AD1-F3C0-40F0-BA02-82D39FC56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Procesos conectados y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9B8ADA-DB53-4C93-A2FF-8F5FA0062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02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31377B-FB59-4807-BE24-EDB6AEC25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F90CFB-7A5B-4BF9-9BBA-BF7C3F3C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0225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5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Animal → residuo → cultivo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DABA8C-94A8-408A-990E-31849BAF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0"/>
            <a:ext cx="528637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Salmuera: reactor separado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Digestato: retención y análisis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Liberación: autorización del lote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A96A94-FF84-45FC-B8EE-6B94273EA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El requisito de 100%</a:t>
            </a:r>
          </a:p>
          <a:p xmlns:a="http://schemas.openxmlformats.org/drawingml/2006/main">
            <a:pPr>
              <a:defRPr sz="195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sigue sin demostrarse.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11aa94863a490f"/>
          <a:stretch xmlns:a="http://schemas.openxmlformats.org/drawingml/2006/main"/>
        </p:blipFill>
        <p:spPr>
          <a:xfrm xmlns:a="http://schemas.openxmlformats.org/drawingml/2006/main">
            <a:off x="6238875" y="2521148"/>
            <a:ext cx="5429250" cy="305395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7930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02001B-F72F-4090-B6CB-6502289A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E59318-74DC-433E-8A47-6B531CE43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Veinte cartuchos, una trayectoria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1576C3-007C-48E3-B275-5921E584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03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E83AD0-9834-4E58-ABDD-84F6B6DA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57E930-0997-4A85-A9A4-AC61E6FF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2095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900">
                <a:solidFill>
                  <a:srgbClr val="A8C98C"/>
                </a:solidFill>
                <a:latin typeface="Bodoni Moda"/>
                <a:ea typeface="Bodoni Moda"/>
                <a:cs typeface="Bodoni Moda"/>
              </a:defRPr>
            </a:pPr>
            <a:r>
              <a:rPr sz="6900">
                <a:solidFill>
                  <a:srgbClr val="A8C98C"/>
                </a:solidFill>
                <a:latin typeface="Bodoni Moda"/>
                <a:ea typeface="Bodoni Moda"/>
                <a:cs typeface="Bodoni Moda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7BB48B-CE8C-48E8-BC86-1A4A80D3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95600"/>
            <a:ext cx="471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175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8 regeneración + 12 cultivo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A53E08-A99D-431E-9389-1DC5845C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90950"/>
            <a:ext cx="4857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3.086 m² útiles de cultivo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Ø 4.56 m nominal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≈1.98 t de masa móvil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B079D4-61DF-41BE-A514-092375522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72125"/>
            <a:ext cx="619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Entrada / evacuación pendiente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ef4ecf0d4d48d0"/>
          <a:stretch xmlns:a="http://schemas.openxmlformats.org/drawingml/2006/main"/>
        </p:blipFill>
        <p:spPr>
          <a:xfrm xmlns:a="http://schemas.openxmlformats.org/drawingml/2006/main">
            <a:off x="6191250" y="2312491"/>
            <a:ext cx="5476875" cy="308074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61285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39FC89-DC6B-4A64-92B1-4E02C54A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7C87AF-5680-43D4-A10B-8880114D1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Cada lote conserva su historia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EA0161-9E36-4434-B153-0CC1ED116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04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196A4D-A8A6-49C3-B394-0D8DCAA46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7C6FE4-4C48-4D0D-8407-E160175A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81175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625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Tratamiento → muestra → decisión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A2FFC7-6C22-4AF1-8ADC-68B96BB1D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00350"/>
            <a:ext cx="5524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Sin análisis: retención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Fallo: daño persistente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Reemplazo: recursos limitados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D3BC24-575F-4865-9866-39A5A01B5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57800"/>
            <a:ext cx="561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80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Respuesta biológica ilustrativa.</a:t>
            </a:r>
          </a:p>
          <a:p xmlns:a="http://schemas.openxmlformats.org/drawingml/2006/main">
            <a:pPr>
              <a:defRPr sz="180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80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El control no es un análisis químico.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213adc81ae434c"/>
          <a:stretch xmlns:a="http://schemas.openxmlformats.org/drawingml/2006/main"/>
        </p:blipFill>
        <p:spPr>
          <a:xfrm xmlns:a="http://schemas.openxmlformats.org/drawingml/2006/main">
            <a:off x="6334125" y="2619375"/>
            <a:ext cx="5334000" cy="3000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7103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968741-C271-4F23-B8EA-0065304BA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940C9E-A64D-4C9D-9D82-E6388D32B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Alimento complementario, energía externa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D787F0-DEA9-4D17-9694-C803B170C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05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A7353-248C-46A1-B812-DA012426D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74A452-9116-4233-B5E9-0B72807A2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3905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100">
                <a:solidFill>
                  <a:srgbClr val="A8C98C"/>
                </a:solidFill>
                <a:latin typeface="Bodoni Moda"/>
                <a:ea typeface="Bodoni Moda"/>
                <a:cs typeface="Bodoni Moda"/>
              </a:defRPr>
            </a:pPr>
            <a:r>
              <a:rPr sz="8100">
                <a:solidFill>
                  <a:srgbClr val="A8C98C"/>
                </a:solidFill>
                <a:latin typeface="Bodoni Moda"/>
                <a:ea typeface="Bodoni Moda"/>
                <a:cs typeface="Bodoni Moda"/>
              </a:rPr>
              <a:t>2.46%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1E6AB2-DE46-4EBD-BB37-4F40541E6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de las kcal de seis personas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7395DE-F297-466F-BD13-806A8A7D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95725"/>
            <a:ext cx="5715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447 kcal/d entre huevo y vegetales</a:t>
            </a:r>
          </a:p>
          <a:p xmlns:a="http://schemas.openxmlformats.org/drawingml/2006/main">
            <a:pPr>
              <a:defRPr sz="19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0.7704 kg/d de ración animal importada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0B278D-9E32-4284-A332-B26B2FF7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1952625"/>
            <a:ext cx="4857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5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25.26 kWh eléctricos/d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1ED6F6-935C-45F9-B393-0E27FDA43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6670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8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Subtotal del escenario modelado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4E7AA7-07D1-4E19-AB18-7655D1795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705225"/>
            <a:ext cx="4857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255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0.199 kWh químicos/d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E79B73-5C4C-434E-A7D2-657BFCB0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4386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Biogás antes de conversión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53C2CF-7B80-4EDC-89F6-3C6F212E7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34025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80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10.48 kWh/d son luz. Auxiliares y térmica con supuestos; faltan cargas.</a:t>
            </a:r>
          </a:p>
        </p:txBody>
      </p:sp>
    </p:spTree>
    <p:extLst>
      <p:ext uri="{BB962C8B-B14F-4D97-AF65-F5344CB8AC3E}">
        <p14:creationId xmlns:p14="http://schemas.microsoft.com/office/powerpoint/2010/main" val="6627163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234BEB-129E-470F-927F-B153276B0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531354-B08A-4B22-A66F-C7FDFD895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Evidencia disponible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B417B1-4AD1-4B77-A700-3F57E66A0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06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C73412-AF78-457B-860C-FC206D14A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D4D66C-5A15-4261-9407-F3D9C6F5D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542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475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Verificado digitalmente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62BF04-79F8-4E61-BC03-AA045F1F1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57475"/>
            <a:ext cx="5238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Cálculos y geometría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Estado reproducible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Demo sin Internet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7A9EEA-7001-4FD0-80A4-DC3809FC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95875"/>
            <a:ext cx="552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2025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Pendiente: carga real, acceso,</a:t>
            </a:r>
          </a:p>
          <a:p xmlns:a="http://schemas.openxmlformats.org/drawingml/2006/main">
            <a:pPr>
              <a:defRPr sz="2025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2025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agua medida e inocuidad.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adf83fa3674f01"/>
          <a:stretch xmlns:a="http://schemas.openxmlformats.org/drawingml/2006/main"/>
        </p:blipFill>
        <p:spPr>
          <a:xfrm xmlns:a="http://schemas.openxmlformats.org/drawingml/2006/main">
            <a:off x="6381750" y="1884759"/>
            <a:ext cx="5286375" cy="396478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2436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5D44F1-8701-4CC6-8CE5-7083AA60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30EBC5-9896-4A43-A220-603CF2D97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Un piloto acotado en Tuxtla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1EC4A9-988E-4257-8C9E-DAC610141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07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758ADB-36E0-4548-8EF0-5E4199E0C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468275-DCF2-4B9C-AAE3-E921659C3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57375"/>
            <a:ext cx="11239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31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6 recipientes / 3 pares independientes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703535-8EB8-4520-B751-29E3C5B20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05125"/>
            <a:ext cx="5048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Riego manual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7A9E88-2B40-4486-94D7-9C5EA4E0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05125"/>
            <a:ext cx="5238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Goteo + aislamiento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D46DEC-0BFE-4574-A0FE-B84B1FE7C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00475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21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Misma especie, sustrato y condiciones comparables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3C0091-6D35-45B0-A5FD-45E59B06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005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325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Medir agua nueva/kg utilizable, tiempo y energía.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EA0157-A644-452F-BEA4-10B4A8605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53075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Sitio, operador, línea base y resultados pendientes.</a:t>
            </a:r>
          </a:p>
        </p:txBody>
      </p:sp>
    </p:spTree>
    <p:extLst>
      <p:ext uri="{BB962C8B-B14F-4D97-AF65-F5344CB8AC3E}">
        <p14:creationId xmlns:p14="http://schemas.microsoft.com/office/powerpoint/2010/main" val="11190417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B7D951-4E77-4CB2-A725-42B32B3E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0C019F-DC74-49DF-A64E-779AC0B4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Costes separados por alcance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A57E4E-D9E2-444B-9E19-4F2BAB0E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08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D66A93-106D-4C0A-B5A5-82D4A0AF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33400" y="1905000"/>
          <a:ext xmlns:a="http://schemas.openxmlformats.org/drawingml/2006/main" cx="11125200" cy="3000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3905250"/>
                <a:gridCol w="3838575"/>
              </a:tblGrid>
              <a:tr h="750094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A8C98C"/>
                          </a:solidFill>
                          <a:latin typeface="Archivo"/>
                          <a:ea typeface="Archivo"/>
                          <a:cs typeface="Archivo"/>
                        </a:rPr>
                        <a:t>Alcance</a:t>
                      </a:r>
                    </a:p>
                  </a:txBody>
                  <a:tcPr marL="91440" marR="91440" marT="45720" marB="45720">
                    <a:solidFill>
                      <a:srgbClr val="2340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A8C98C"/>
                          </a:solidFill>
                          <a:latin typeface="Archivo"/>
                          <a:ea typeface="Archivo"/>
                          <a:cs typeface="Archivo"/>
                        </a:rPr>
                        <a:t>Disponibilidad</a:t>
                      </a:r>
                    </a:p>
                  </a:txBody>
                  <a:tcPr marL="91440" marR="91440" marT="45720" marB="45720">
                    <a:solidFill>
                      <a:srgbClr val="2340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A8C98C"/>
                          </a:solidFill>
                          <a:latin typeface="Archivo"/>
                          <a:ea typeface="Archivo"/>
                          <a:cs typeface="Archivo"/>
                        </a:rPr>
                        <a:t>Brecha</a:t>
                      </a:r>
                    </a:p>
                  </a:txBody>
                  <a:tcPr marL="91440" marR="91440" marT="45720" marB="45720">
                    <a:solidFill>
                      <a:srgbClr val="23404A"/>
                    </a:solidFill>
                  </a:tcPr>
                </a:tc>
              </a:tr>
              <a:tr h="750094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Maqueta Madrid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19 partidas preliminares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Fabricación y recursos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</a:tr>
              <a:tr h="750094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Piloto Chiapas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20 partidas preliminares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Sitio, análisis y operación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</a:tr>
              <a:tr h="750094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Concepto marciano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Recursos dimensionales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Integración y ciclo de vida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90960B-5EC4-4452-AEAF-2B7DABEF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29250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210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Precios públicos parciales. Total de compra pendiente.</a:t>
            </a:r>
          </a:p>
        </p:txBody>
      </p:sp>
    </p:spTree>
    <p:extLst>
      <p:ext uri="{BB962C8B-B14F-4D97-AF65-F5344CB8AC3E}">
        <p14:creationId xmlns:p14="http://schemas.microsoft.com/office/powerpoint/2010/main" val="17684065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592AF9-4F85-4B59-A73F-8A605061D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D8FE55-AC5C-449B-A53B-BD483FE96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La siguiente demostración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A93FEB-9D3C-4686-B12B-DB795E64F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09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4C6B1B-6953-4D82-A0F3-D2B6A9E3B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44E887-51A0-474D-B2B6-4D2FFF4D0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9775"/>
            <a:ext cx="10668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Acceso y extracción practicables</a:t>
            </a:r>
          </a:p>
          <a:p xmlns:a="http://schemas.openxmlformats.org/drawingml/2006/main">
            <a:pPr>
              <a:defRPr sz="28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Indexado con carga medida</a:t>
            </a:r>
          </a:p>
          <a:p xmlns:a="http://schemas.openxmlformats.org/drawingml/2006/main">
            <a:pPr>
              <a:defRPr sz="28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Riego e aislamiento verificables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19990A-F0A4-43CA-A99A-E04AFB7C9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48225"/>
            <a:ext cx="1085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Comparar el carrusel con una solución más simple.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Decidir con mediciones y conservar los límites visibles.</a:t>
            </a:r>
          </a:p>
        </p:txBody>
      </p:sp>
    </p:spTree>
    <p:extLst>
      <p:ext uri="{BB962C8B-B14F-4D97-AF65-F5344CB8AC3E}">
        <p14:creationId xmlns:p14="http://schemas.microsoft.com/office/powerpoint/2010/main" val="20758806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2026-09-21T09:06:46.1600000Z</dcterms:created>
  <dcterms:modified xsi:type="dcterms:W3CDTF">2026-09-21T09:06:46.1600000Z</dcterms:modified>
</coreProperties>
</file>